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6" r:id="rId9"/>
    <p:sldId id="265" r:id="rId10"/>
    <p:sldId id="267" r:id="rId11"/>
    <p:sldId id="262" r:id="rId12"/>
    <p:sldId id="263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/>
    <p:restoredTop sz="78691"/>
  </p:normalViewPr>
  <p:slideViewPr>
    <p:cSldViewPr snapToGrid="0" snapToObjects="1">
      <p:cViewPr>
        <p:scale>
          <a:sx n="94" d="100"/>
          <a:sy n="94" d="100"/>
        </p:scale>
        <p:origin x="424" y="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CE67B-5823-E045-979C-8832ACFCD33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79950-56B9-8C4C-831D-1DC0BAFF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4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email</a:t>
            </a:r>
          </a:p>
          <a:p>
            <a:r>
              <a:rPr lang="en-US" dirty="0"/>
              <a:t>and </a:t>
            </a:r>
            <a:r>
              <a:rPr lang="en-US" dirty="0" err="1"/>
              <a:t>notelms</a:t>
            </a:r>
            <a:r>
              <a:rPr lang="en-US" dirty="0"/>
              <a:t>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61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97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BCF79-8546-7944-85FD-7DCA42E2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48638-195D-2626-B560-B5D81AA9F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D0D90-679F-C43F-8661-C98ACD069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C8233-04DF-344C-10DD-647C03F88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43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BERTs both running on </a:t>
            </a:r>
            <a:r>
              <a:rPr lang="en-US" dirty="0" err="1"/>
              <a:t>pytorch</a:t>
            </a:r>
            <a:r>
              <a:rPr lang="en-US" dirty="0"/>
              <a:t>, fine tuned on </a:t>
            </a:r>
            <a:r>
              <a:rPr lang="en-US" dirty="0" err="1"/>
              <a:t>pytortch</a:t>
            </a:r>
            <a:endParaRPr lang="en-US" dirty="0"/>
          </a:p>
          <a:p>
            <a:r>
              <a:rPr lang="en-US" dirty="0" err="1"/>
              <a:t>Gpt</a:t>
            </a:r>
            <a:r>
              <a:rPr lang="en-US" dirty="0"/>
              <a:t> </a:t>
            </a:r>
            <a:r>
              <a:rPr lang="en-US" dirty="0" err="1"/>
              <a:t>oss</a:t>
            </a:r>
            <a:r>
              <a:rPr lang="en-US" dirty="0"/>
              <a:t> running on </a:t>
            </a:r>
            <a:r>
              <a:rPr lang="en-US" dirty="0" err="1"/>
              <a:t>lm</a:t>
            </a:r>
            <a:r>
              <a:rPr lang="en-US" dirty="0"/>
              <a:t> 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30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already have over 30 evaluations of user data</a:t>
            </a:r>
          </a:p>
          <a:p>
            <a:r>
              <a:rPr lang="en-US" dirty="0"/>
              <a:t>Another threat is still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91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problem, solution, and what the eval showed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06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2067-E432-76FB-B075-B8E272977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1B0D5-1D54-7558-C552-35A3463C5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9F9AD-06DD-A417-AA3A-4AADEA6DF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F6D4D-8421-1BF1-7F8E-22FE4EAB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79950-56B9-8C4C-831D-1DC0BAFF3E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72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l-2010@outlook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hyperlink" Target="http://notelms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lms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7" y="987532"/>
            <a:ext cx="103628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NoteLMs</a:t>
            </a:r>
            <a:r>
              <a:rPr lang="en-US" sz="40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: The three-model organization framework for student notes</a:t>
            </a:r>
            <a:endParaRPr sz="40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397" y="2590309"/>
            <a:ext cx="10362895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dirty="0">
                <a:solidFill>
                  <a:srgbClr val="5A7186"/>
                </a:solidFill>
                <a:latin typeface="IBM Plex Sans"/>
                <a:ea typeface="IBM Plex Sans"/>
                <a:cs typeface="IBM Plex Sans"/>
              </a:rPr>
              <a:t>Yan Levin</a:t>
            </a:r>
            <a:endParaRPr lang="en-US" sz="2200" b="0" dirty="0">
              <a:solidFill>
                <a:srgbClr val="5A7186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spcAft>
                <a:spcPts val="600"/>
              </a:spcAft>
            </a:pPr>
            <a:r>
              <a:rPr lang="en-US" sz="2200" dirty="0">
                <a:solidFill>
                  <a:srgbClr val="5A7186"/>
                </a:solidFill>
                <a:latin typeface="IBM Plex Sans"/>
                <a:ea typeface="IBM Plex Sans"/>
                <a:cs typeface="IBM Plex Sans"/>
                <a:hlinkClick r:id="rId3"/>
              </a:rPr>
              <a:t>yl-2010@outlook.com</a:t>
            </a:r>
            <a:endParaRPr lang="en-US" sz="2200" b="0" dirty="0">
              <a:solidFill>
                <a:srgbClr val="5A7186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spcAft>
                <a:spcPts val="600"/>
              </a:spcAft>
            </a:pPr>
            <a:r>
              <a:rPr lang="en-US" sz="2200" dirty="0">
                <a:solidFill>
                  <a:srgbClr val="5A7186"/>
                </a:solidFill>
                <a:latin typeface="IBM Plex Sans"/>
                <a:ea typeface="IBM Plex Sans"/>
                <a:cs typeface="IBM Plex Sans"/>
                <a:hlinkClick r:id="rId4"/>
              </a:rPr>
              <a:t>notelms.com</a:t>
            </a:r>
            <a:endParaRPr sz="2200" b="0" dirty="0">
              <a:solidFill>
                <a:srgbClr val="5A7186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spcAft>
                <a:spcPts val="600"/>
              </a:spcAft>
            </a:pPr>
            <a:r>
              <a:rPr sz="2200" b="0" dirty="0">
                <a:solidFill>
                  <a:srgbClr val="5A7186"/>
                </a:solidFill>
                <a:latin typeface="IBM Plex Sans"/>
                <a:ea typeface="IBM Plex Sans"/>
                <a:cs typeface="IBM Plex Sans"/>
              </a:rPr>
              <a:t>July 2026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B779AA7-0A76-CEE8-94AF-F7438BC0AC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6643" y="4126831"/>
            <a:ext cx="8958714" cy="26349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Student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notes are often chaotic and rarely reviewed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Existing tools still require manual organization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NoteLMs auto-classifies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into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folders,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HTML-formats notes</a:t>
            </a: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, and reads                	notes aloud for review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 This saves students’ time, making them more likely to review their 	notes in the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future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Three models compete; accuracy scored in real time</a:t>
            </a: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2F132C2-00A1-28E1-1F62-BDE7ECDCE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713525"/>
            <a:ext cx="1005840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Website that auto-sorts and formats student notes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F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ully-functioning, live website, free to use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•  Research questions: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		Are LMs capable of categorizing notes into subjects?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		If so, which LM is best?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We have found that fine-tuned BERT is the most accurate LM at subject classification.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1FF302-C61C-F854-FFCC-8B3F34BAA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34340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Related </a:t>
            </a:r>
            <a:r>
              <a:rPr lang="en-US"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Products</a:t>
            </a:r>
            <a:endParaRPr sz="36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800" y="2651760"/>
            <a:ext cx="1005840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Microsoft OneNote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Apple Notes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Physical notebooks</a:t>
            </a:r>
          </a:p>
          <a:p>
            <a:pPr>
              <a:spcAft>
                <a:spcPts val="1800"/>
              </a:spcAft>
            </a:pP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All require manual organizing and formatting</a:t>
            </a: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D49924-4294-7154-59FC-20068B6A4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pic>
        <p:nvPicPr>
          <p:cNvPr id="7" name="Picture 6" descr="File:Microsoft OneNote Icon (2025 - present).svg - Wikimedia Commons">
            <a:extLst>
              <a:ext uri="{FF2B5EF4-FFF2-40B4-BE49-F238E27FC236}">
                <a16:creationId xmlns:a16="http://schemas.microsoft.com/office/drawing/2014/main" id="{3735EC09-5C7F-6199-3370-2043CFB69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793" y="1384879"/>
            <a:ext cx="2464449" cy="2533762"/>
          </a:xfrm>
          <a:prstGeom prst="rect">
            <a:avLst/>
          </a:prstGeom>
        </p:spPr>
      </p:pic>
      <p:pic>
        <p:nvPicPr>
          <p:cNvPr id="8" name="Picture 7" descr="File:Apple Notes icon.svg - Wikimedia Commons">
            <a:extLst>
              <a:ext uri="{FF2B5EF4-FFF2-40B4-BE49-F238E27FC236}">
                <a16:creationId xmlns:a16="http://schemas.microsoft.com/office/drawing/2014/main" id="{99D913B3-7B6D-03D2-C8B1-D9DAD823C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657" y="447888"/>
            <a:ext cx="2533762" cy="2533762"/>
          </a:xfrm>
          <a:prstGeom prst="rect">
            <a:avLst/>
          </a:prstGeom>
        </p:spPr>
      </p:pic>
      <p:pic>
        <p:nvPicPr>
          <p:cNvPr id="9" name="Picture 8" descr="Notebook emoji">
            <a:extLst>
              <a:ext uri="{FF2B5EF4-FFF2-40B4-BE49-F238E27FC236}">
                <a16:creationId xmlns:a16="http://schemas.microsoft.com/office/drawing/2014/main" id="{032E2243-7879-343E-C56A-B4A1A6AC6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657" y="3710044"/>
            <a:ext cx="3024716" cy="3024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Conceptual Solution</a:t>
            </a: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725B7A-C5B5-F1CA-497D-D4F561420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pic>
        <p:nvPicPr>
          <p:cNvPr id="7" name="Picture 6" descr="How to quickly navigate to a folder in macOS Big Sur and Monterey | Macworld">
            <a:extLst>
              <a:ext uri="{FF2B5EF4-FFF2-40B4-BE49-F238E27FC236}">
                <a16:creationId xmlns:a16="http://schemas.microsoft.com/office/drawing/2014/main" id="{26B37C4B-FEA1-434E-1E65-337A9BC59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495" y="4711248"/>
            <a:ext cx="2643690" cy="1762460"/>
          </a:xfrm>
          <a:prstGeom prst="rect">
            <a:avLst/>
          </a:prstGeom>
        </p:spPr>
      </p:pic>
      <p:pic>
        <p:nvPicPr>
          <p:cNvPr id="10" name="Picture 9" descr="iOS 26.4">
            <a:extLst>
              <a:ext uri="{FF2B5EF4-FFF2-40B4-BE49-F238E27FC236}">
                <a16:creationId xmlns:a16="http://schemas.microsoft.com/office/drawing/2014/main" id="{82306252-7B94-CA16-DFC0-C804F046D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863" y="1011124"/>
            <a:ext cx="1751853" cy="17518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0791F0-2F51-437A-F2D4-D0387145EA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04383" y="4687194"/>
            <a:ext cx="1762460" cy="1762460"/>
          </a:xfrm>
          <a:prstGeom prst="rect">
            <a:avLst/>
          </a:prstGeom>
        </p:spPr>
      </p:pic>
      <p:pic>
        <p:nvPicPr>
          <p:cNvPr id="24" name="Picture 23" descr="iOS 26.4">
            <a:extLst>
              <a:ext uri="{FF2B5EF4-FFF2-40B4-BE49-F238E27FC236}">
                <a16:creationId xmlns:a16="http://schemas.microsoft.com/office/drawing/2014/main" id="{5EE4CC7C-A19D-D5B2-4C9B-9C76740BC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1704" y="904538"/>
            <a:ext cx="1751853" cy="175185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DBAD23B-BFE5-1B6C-05C7-BD2D044E8BC4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10107631" y="2656391"/>
            <a:ext cx="277982" cy="2030803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8" name="Picture 47" descr="How to quickly navigate to a folder in macOS Big Sur and Monterey | Macworld">
            <a:extLst>
              <a:ext uri="{FF2B5EF4-FFF2-40B4-BE49-F238E27FC236}">
                <a16:creationId xmlns:a16="http://schemas.microsoft.com/office/drawing/2014/main" id="{7FEA92B5-488C-3F18-90E3-DC4B9D2B4F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475495" y="4706208"/>
            <a:ext cx="2643690" cy="1762460"/>
          </a:xfrm>
          <a:prstGeom prst="rect">
            <a:avLst/>
          </a:prstGeom>
        </p:spPr>
      </p:pic>
      <p:pic>
        <p:nvPicPr>
          <p:cNvPr id="49" name="Picture 48" descr="How to quickly navigate to a folder in macOS Big Sur and Monterey | Macworld">
            <a:extLst>
              <a:ext uri="{FF2B5EF4-FFF2-40B4-BE49-F238E27FC236}">
                <a16:creationId xmlns:a16="http://schemas.microsoft.com/office/drawing/2014/main" id="{13788800-A927-D827-10DC-810444ECD82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892925" y="4711248"/>
            <a:ext cx="2643690" cy="1762460"/>
          </a:xfrm>
          <a:prstGeom prst="rect">
            <a:avLst/>
          </a:prstGeom>
        </p:spPr>
      </p:pic>
      <p:pic>
        <p:nvPicPr>
          <p:cNvPr id="52" name="Picture 51" descr="iOS 26.4">
            <a:extLst>
              <a:ext uri="{FF2B5EF4-FFF2-40B4-BE49-F238E27FC236}">
                <a16:creationId xmlns:a16="http://schemas.microsoft.com/office/drawing/2014/main" id="{639EE3A1-962F-FAE2-6542-FAACD26D8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340" y="2026490"/>
            <a:ext cx="1751853" cy="1751853"/>
          </a:xfrm>
          <a:prstGeom prst="rect">
            <a:avLst/>
          </a:prstGeom>
        </p:spPr>
      </p:pic>
      <p:pic>
        <p:nvPicPr>
          <p:cNvPr id="53" name="Picture 52" descr="iOS 26.4">
            <a:extLst>
              <a:ext uri="{FF2B5EF4-FFF2-40B4-BE49-F238E27FC236}">
                <a16:creationId xmlns:a16="http://schemas.microsoft.com/office/drawing/2014/main" id="{0E12F6D0-1520-D12A-1B60-5894AC99F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5458" y="2151792"/>
            <a:ext cx="1751853" cy="1751853"/>
          </a:xfrm>
          <a:prstGeom prst="rect">
            <a:avLst/>
          </a:prstGeom>
        </p:spPr>
      </p:pic>
      <p:pic>
        <p:nvPicPr>
          <p:cNvPr id="50" name="Picture 49" descr="How to quickly navigate to a folder in macOS Big Sur and Monterey | Macworld">
            <a:extLst>
              <a:ext uri="{FF2B5EF4-FFF2-40B4-BE49-F238E27FC236}">
                <a16:creationId xmlns:a16="http://schemas.microsoft.com/office/drawing/2014/main" id="{0D6A420C-CE4E-E1C0-6C2B-690132C4A2E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D9C3A5">
                <a:tint val="50000"/>
                <a:satMod val="180000"/>
              </a:srgbClr>
            </a:duotone>
          </a:blip>
          <a:stretch/>
        </p:blipFill>
        <p:spPr>
          <a:xfrm>
            <a:off x="3892925" y="4706208"/>
            <a:ext cx="2643690" cy="176246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8628A4E-597F-C81C-DE51-23F6384FAFDC}"/>
              </a:ext>
            </a:extLst>
          </p:cNvPr>
          <p:cNvSpPr txBox="1"/>
          <p:nvPr/>
        </p:nvSpPr>
        <p:spPr>
          <a:xfrm>
            <a:off x="925157" y="2190002"/>
            <a:ext cx="1005840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Input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plain-text notes or note images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Output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Classify subject → place in subject folder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Output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Auto HTML-format for readability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Output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N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atural AI readout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7E5D0-440E-0DD6-28BE-8736535F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26B2D-462F-C80C-9329-C8DBC3DA94A6}"/>
              </a:ext>
            </a:extLst>
          </p:cNvPr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Conceptual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CBE44-8C48-B594-55E2-EF6FDE2AC774}"/>
              </a:ext>
            </a:extLst>
          </p:cNvPr>
          <p:cNvSpPr txBox="1"/>
          <p:nvPr/>
        </p:nvSpPr>
        <p:spPr>
          <a:xfrm>
            <a:off x="925157" y="2190002"/>
            <a:ext cx="1005840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Input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plain-text notes or note images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Output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Classify subject → place in subject folder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Output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Auto HTML-format for readability</a:t>
            </a: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Output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N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atural AI readout</a:t>
            </a: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F9F5A99B-EDC4-CF8F-D7BD-14AF51967960}"/>
              </a:ext>
            </a:extLst>
          </p:cNvPr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B44EF0-879B-A5BD-42FD-7EDD5C749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pic>
        <p:nvPicPr>
          <p:cNvPr id="7" name="Picture 6" descr="How to quickly navigate to a folder in macOS Big Sur and Monterey | Macworld">
            <a:extLst>
              <a:ext uri="{FF2B5EF4-FFF2-40B4-BE49-F238E27FC236}">
                <a16:creationId xmlns:a16="http://schemas.microsoft.com/office/drawing/2014/main" id="{B33D030F-93F2-7369-8942-813DD87A3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495" y="4711248"/>
            <a:ext cx="2643690" cy="1762460"/>
          </a:xfrm>
          <a:prstGeom prst="rect">
            <a:avLst/>
          </a:prstGeom>
        </p:spPr>
      </p:pic>
      <p:pic>
        <p:nvPicPr>
          <p:cNvPr id="10" name="Picture 9" descr="iOS 26.4">
            <a:extLst>
              <a:ext uri="{FF2B5EF4-FFF2-40B4-BE49-F238E27FC236}">
                <a16:creationId xmlns:a16="http://schemas.microsoft.com/office/drawing/2014/main" id="{B3DB815C-5D47-5EB0-7DC8-D583A8D45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378" y="4632360"/>
            <a:ext cx="1751853" cy="17518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1421C7-4208-A62B-54E7-28999FD711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04383" y="4687194"/>
            <a:ext cx="1762460" cy="1762460"/>
          </a:xfrm>
          <a:prstGeom prst="rect">
            <a:avLst/>
          </a:prstGeom>
        </p:spPr>
      </p:pic>
      <p:pic>
        <p:nvPicPr>
          <p:cNvPr id="24" name="Picture 23" descr="iOS 26.4">
            <a:extLst>
              <a:ext uri="{FF2B5EF4-FFF2-40B4-BE49-F238E27FC236}">
                <a16:creationId xmlns:a16="http://schemas.microsoft.com/office/drawing/2014/main" id="{E9620B36-91CE-8807-43EB-F257BCE3F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1704" y="904538"/>
            <a:ext cx="1751853" cy="175185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1CB3B9F-D90A-0BBA-8084-3025CD68B24C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10107631" y="2656391"/>
            <a:ext cx="277982" cy="2030803"/>
          </a:xfrm>
          <a:prstGeom prst="straightConnector1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8" name="Picture 47" descr="How to quickly navigate to a folder in macOS Big Sur and Monterey | Macworld">
            <a:extLst>
              <a:ext uri="{FF2B5EF4-FFF2-40B4-BE49-F238E27FC236}">
                <a16:creationId xmlns:a16="http://schemas.microsoft.com/office/drawing/2014/main" id="{FF43CBED-760D-154A-00B3-FCE176DF6E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475495" y="4706208"/>
            <a:ext cx="2643690" cy="1762460"/>
          </a:xfrm>
          <a:prstGeom prst="rect">
            <a:avLst/>
          </a:prstGeom>
        </p:spPr>
      </p:pic>
      <p:pic>
        <p:nvPicPr>
          <p:cNvPr id="49" name="Picture 48" descr="How to quickly navigate to a folder in macOS Big Sur and Monterey | Macworld">
            <a:extLst>
              <a:ext uri="{FF2B5EF4-FFF2-40B4-BE49-F238E27FC236}">
                <a16:creationId xmlns:a16="http://schemas.microsoft.com/office/drawing/2014/main" id="{607BD31E-8A72-729D-158A-4D7ACFC3837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892925" y="4711248"/>
            <a:ext cx="2643690" cy="1762460"/>
          </a:xfrm>
          <a:prstGeom prst="rect">
            <a:avLst/>
          </a:prstGeom>
        </p:spPr>
      </p:pic>
      <p:pic>
        <p:nvPicPr>
          <p:cNvPr id="5" name="Picture 4" descr="iOS 26.4">
            <a:extLst>
              <a:ext uri="{FF2B5EF4-FFF2-40B4-BE49-F238E27FC236}">
                <a16:creationId xmlns:a16="http://schemas.microsoft.com/office/drawing/2014/main" id="{57277C8E-9A90-3E9D-58A3-9D09E4450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539" y="4632359"/>
            <a:ext cx="1751853" cy="1751853"/>
          </a:xfrm>
          <a:prstGeom prst="rect">
            <a:avLst/>
          </a:prstGeom>
        </p:spPr>
      </p:pic>
      <p:pic>
        <p:nvPicPr>
          <p:cNvPr id="8" name="Picture 7" descr="iOS 26.4">
            <a:extLst>
              <a:ext uri="{FF2B5EF4-FFF2-40B4-BE49-F238E27FC236}">
                <a16:creationId xmlns:a16="http://schemas.microsoft.com/office/drawing/2014/main" id="{2ACE99FE-CF53-61E3-BDF8-41550A7B2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302" y="4502445"/>
            <a:ext cx="1751853" cy="1751853"/>
          </a:xfrm>
          <a:prstGeom prst="rect">
            <a:avLst/>
          </a:prstGeom>
        </p:spPr>
      </p:pic>
      <p:pic>
        <p:nvPicPr>
          <p:cNvPr id="50" name="Picture 49" descr="How to quickly navigate to a folder in macOS Big Sur and Monterey | Macworld">
            <a:extLst>
              <a:ext uri="{FF2B5EF4-FFF2-40B4-BE49-F238E27FC236}">
                <a16:creationId xmlns:a16="http://schemas.microsoft.com/office/drawing/2014/main" id="{C1BD235E-4E86-C36B-C4C9-1423CD5168A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D9C3A5">
                <a:tint val="50000"/>
                <a:satMod val="180000"/>
              </a:srgbClr>
            </a:duotone>
          </a:blip>
          <a:stretch/>
        </p:blipFill>
        <p:spPr>
          <a:xfrm>
            <a:off x="3892925" y="4706208"/>
            <a:ext cx="2643690" cy="176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764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44757"/>
            <a:ext cx="100584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Vercel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-hosted w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eb app +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Cloudfare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tunnel -&gt;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server running on mac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6FF0CF-3E7A-1217-3331-697AEDD8D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pic>
        <p:nvPicPr>
          <p:cNvPr id="9" name="Picture 8" descr="Laptop emoji">
            <a:extLst>
              <a:ext uri="{FF2B5EF4-FFF2-40B4-BE49-F238E27FC236}">
                <a16:creationId xmlns:a16="http://schemas.microsoft.com/office/drawing/2014/main" id="{DA1D7245-416F-F61A-8FA3-868645574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1" y="3259567"/>
            <a:ext cx="2135393" cy="2135393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7FAB85FC-72BC-20F8-6990-C111B935F868}"/>
              </a:ext>
            </a:extLst>
          </p:cNvPr>
          <p:cNvGrpSpPr/>
          <p:nvPr/>
        </p:nvGrpSpPr>
        <p:grpSpPr>
          <a:xfrm>
            <a:off x="2642884" y="3259567"/>
            <a:ext cx="3772387" cy="1067697"/>
            <a:chOff x="2642884" y="3259567"/>
            <a:chExt cx="3772387" cy="1067697"/>
          </a:xfrm>
        </p:grpSpPr>
        <p:pic>
          <p:nvPicPr>
            <p:cNvPr id="10" name="Graphic 9" descr="File:Vercel logo 2025.svg - Wikimedia Commons">
              <a:extLst>
                <a:ext uri="{FF2B5EF4-FFF2-40B4-BE49-F238E27FC236}">
                  <a16:creationId xmlns:a16="http://schemas.microsoft.com/office/drawing/2014/main" id="{76ABA609-776F-125F-21D9-3652983101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44516" y="3259567"/>
              <a:ext cx="2670755" cy="530326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BE44A1C-8CB4-FD2E-59A9-5DD63235E22A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2642884" y="3886190"/>
              <a:ext cx="786116" cy="44107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6CF6A9C-02AC-3D28-BC35-E95B1B95C659}"/>
              </a:ext>
            </a:extLst>
          </p:cNvPr>
          <p:cNvGrpSpPr/>
          <p:nvPr/>
        </p:nvGrpSpPr>
        <p:grpSpPr>
          <a:xfrm>
            <a:off x="6576636" y="2328079"/>
            <a:ext cx="4089571" cy="1142863"/>
            <a:chOff x="6576636" y="2328079"/>
            <a:chExt cx="4089571" cy="1142863"/>
          </a:xfrm>
        </p:grpSpPr>
        <p:pic>
          <p:nvPicPr>
            <p:cNvPr id="19" name="Picture 18" descr="File:Cloudflare Logo.svg - Wikimedia Commons">
              <a:extLst>
                <a:ext uri="{FF2B5EF4-FFF2-40B4-BE49-F238E27FC236}">
                  <a16:creationId xmlns:a16="http://schemas.microsoft.com/office/drawing/2014/main" id="{58400BA3-E332-448B-FB39-28BE3B46D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16056" y="2328079"/>
              <a:ext cx="3450151" cy="1142863"/>
            </a:xfrm>
            <a:prstGeom prst="rect">
              <a:avLst/>
            </a:prstGeom>
          </p:spPr>
        </p:pic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237AF2A-2182-2E41-219D-D576EFD384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6636" y="2622387"/>
              <a:ext cx="1620375" cy="80253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D6E6C3C-CC15-4447-1AB1-DB6524CD0BBF}"/>
              </a:ext>
            </a:extLst>
          </p:cNvPr>
          <p:cNvGrpSpPr/>
          <p:nvPr/>
        </p:nvGrpSpPr>
        <p:grpSpPr>
          <a:xfrm>
            <a:off x="7930945" y="3688303"/>
            <a:ext cx="3450151" cy="3505103"/>
            <a:chOff x="7930945" y="3688303"/>
            <a:chExt cx="3450151" cy="350510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33D5136-BCE3-AEFA-F9FB-BAECDEA9E922}"/>
                </a:ext>
              </a:extLst>
            </p:cNvPr>
            <p:cNvGrpSpPr/>
            <p:nvPr/>
          </p:nvGrpSpPr>
          <p:grpSpPr>
            <a:xfrm>
              <a:off x="7930945" y="3743255"/>
              <a:ext cx="3450151" cy="3450151"/>
              <a:chOff x="7930945" y="3743255"/>
              <a:chExt cx="3450151" cy="3450151"/>
            </a:xfrm>
          </p:grpSpPr>
          <p:pic>
            <p:nvPicPr>
              <p:cNvPr id="33" name="Picture 32" descr="Apple unveils new Mac Studio, the most powerful Mac ever ...">
                <a:extLst>
                  <a:ext uri="{FF2B5EF4-FFF2-40B4-BE49-F238E27FC236}">
                    <a16:creationId xmlns:a16="http://schemas.microsoft.com/office/drawing/2014/main" id="{2613C181-2354-EE75-68D1-7790CDCE7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>
              <a:xfrm>
                <a:off x="7930945" y="3743255"/>
                <a:ext cx="3450151" cy="3450151"/>
              </a:xfrm>
              <a:prstGeom prst="rect">
                <a:avLst/>
              </a:prstGeom>
            </p:spPr>
          </p:pic>
          <p:pic>
            <p:nvPicPr>
              <p:cNvPr id="34" name="Picture 33" descr="Apple reveals M3 Ultra, taking Apple silicon to a new extreme - Apple (UK)">
                <a:extLst>
                  <a:ext uri="{FF2B5EF4-FFF2-40B4-BE49-F238E27FC236}">
                    <a16:creationId xmlns:a16="http://schemas.microsoft.com/office/drawing/2014/main" id="{76EF2C0D-7F87-467E-3294-B234EACE7D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>
              <a:xfrm>
                <a:off x="9198790" y="4841500"/>
                <a:ext cx="1662077" cy="872590"/>
              </a:xfrm>
              <a:prstGeom prst="rect">
                <a:avLst/>
              </a:prstGeom>
            </p:spPr>
          </p:pic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993EA-2733-EB17-284B-605A37E04E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8790" y="3688303"/>
              <a:ext cx="227598" cy="88088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DA3A8BA-B932-9F4F-9D76-925B81A17FF1}"/>
              </a:ext>
            </a:extLst>
          </p:cNvPr>
          <p:cNvGrpSpPr/>
          <p:nvPr/>
        </p:nvGrpSpPr>
        <p:grpSpPr>
          <a:xfrm>
            <a:off x="3962946" y="4351383"/>
            <a:ext cx="3967999" cy="2233893"/>
            <a:chOff x="3962946" y="4351383"/>
            <a:chExt cx="3967999" cy="2233893"/>
          </a:xfrm>
        </p:grpSpPr>
        <p:pic>
          <p:nvPicPr>
            <p:cNvPr id="48" name="Picture 47" descr="File:OpenAI logo 2025 (symbol).svg - Wikimedia Commons">
              <a:extLst>
                <a:ext uri="{FF2B5EF4-FFF2-40B4-BE49-F238E27FC236}">
                  <a16:creationId xmlns:a16="http://schemas.microsoft.com/office/drawing/2014/main" id="{0D11199F-11CB-CDC9-EB1F-627F0A70D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62946" y="4351383"/>
              <a:ext cx="2233893" cy="2233893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3440567-2BF7-D7B1-EF15-EEE9FDDCE050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6310570" y="5468329"/>
              <a:ext cx="1620375" cy="2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5A56C-85F9-5477-7F63-80CDF549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D398D70-0260-FEE6-B214-6B54DB40E336}"/>
              </a:ext>
            </a:extLst>
          </p:cNvPr>
          <p:cNvSpPr/>
          <p:nvPr/>
        </p:nvSpPr>
        <p:spPr>
          <a:xfrm>
            <a:off x="2693015" y="4306915"/>
            <a:ext cx="9160814" cy="2117638"/>
          </a:xfrm>
          <a:prstGeom prst="roundRect">
            <a:avLst/>
          </a:prstGeom>
          <a:gradFill>
            <a:gsLst>
              <a:gs pos="0">
                <a:schemeClr val="accent5">
                  <a:tint val="100000"/>
                  <a:shade val="100000"/>
                  <a:satMod val="130000"/>
                  <a:alpha val="25074"/>
                </a:schemeClr>
              </a:gs>
              <a:gs pos="100000">
                <a:schemeClr val="accent5">
                  <a:tint val="50000"/>
                  <a:shade val="100000"/>
                  <a:satMod val="350000"/>
                  <a:alpha val="27512"/>
                </a:schemeClr>
              </a:gs>
            </a:gsLst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r"/>
            <a:r>
              <a:rPr lang="en-US" dirty="0">
                <a:solidFill>
                  <a:schemeClr val="tx1"/>
                </a:solidFill>
              </a:rPr>
              <a:t>Orchestrator: </a:t>
            </a:r>
          </a:p>
          <a:p>
            <a:pPr lvl="2" algn="r"/>
            <a:r>
              <a:rPr lang="en-US" dirty="0">
                <a:solidFill>
                  <a:schemeClr val="tx1"/>
                </a:solidFill>
              </a:rPr>
              <a:t>GPT-OSS:20b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1B9F2E-180E-9F01-82C9-8400CC1C852A}"/>
              </a:ext>
            </a:extLst>
          </p:cNvPr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2689C-D8B6-29D5-E620-FD254B3CBB5F}"/>
              </a:ext>
            </a:extLst>
          </p:cNvPr>
          <p:cNvSpPr txBox="1"/>
          <p:nvPr/>
        </p:nvSpPr>
        <p:spPr>
          <a:xfrm>
            <a:off x="822960" y="2044757"/>
            <a:ext cx="1005840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Vercel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-hosted w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eb app +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Cloudfare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tunnel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3</a:t>
            </a:r>
            <a:r>
              <a:rPr sz="2400" b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language models </a:t>
            </a:r>
            <a:r>
              <a:rPr sz="2400" b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for classification</a:t>
            </a:r>
            <a:r>
              <a:rPr lang="en-US" sz="2400" b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Zero-shot BERT, Fine-tuned BERT, GPT-OSS:20b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Inference on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Mac Studio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, M3 Ultra w/ 96 </a:t>
            </a:r>
            <a:r>
              <a:rPr lang="en-US" sz="2400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gb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unified memory</a:t>
            </a: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1C984D1B-AD80-8992-BA1A-048F34A763DC}"/>
              </a:ext>
            </a:extLst>
          </p:cNvPr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573D72-0A39-F5A8-D263-CAC0A2322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66B4862-2E79-90DD-F3EC-0BCDBA8C800F}"/>
              </a:ext>
            </a:extLst>
          </p:cNvPr>
          <p:cNvGrpSpPr/>
          <p:nvPr/>
        </p:nvGrpSpPr>
        <p:grpSpPr>
          <a:xfrm>
            <a:off x="6808532" y="366932"/>
            <a:ext cx="5045297" cy="2257487"/>
            <a:chOff x="507491" y="2328079"/>
            <a:chExt cx="10873605" cy="4865327"/>
          </a:xfrm>
        </p:grpSpPr>
        <p:pic>
          <p:nvPicPr>
            <p:cNvPr id="5" name="Picture 4" descr="Laptop emoji">
              <a:extLst>
                <a:ext uri="{FF2B5EF4-FFF2-40B4-BE49-F238E27FC236}">
                  <a16:creationId xmlns:a16="http://schemas.microsoft.com/office/drawing/2014/main" id="{91212982-8F4B-12A8-E748-84B782CF4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7491" y="3259567"/>
              <a:ext cx="2135393" cy="2135393"/>
            </a:xfrm>
            <a:prstGeom prst="rect">
              <a:avLst/>
            </a:prstGeom>
          </p:spPr>
        </p:pic>
        <p:pic>
          <p:nvPicPr>
            <p:cNvPr id="7" name="Graphic 6" descr="File:Vercel logo 2025.svg - Wikimedia Commons">
              <a:extLst>
                <a:ext uri="{FF2B5EF4-FFF2-40B4-BE49-F238E27FC236}">
                  <a16:creationId xmlns:a16="http://schemas.microsoft.com/office/drawing/2014/main" id="{6D7F494C-EFF4-8FA7-10EF-928B048C7A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44516" y="3259567"/>
              <a:ext cx="2670755" cy="530326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24594E0-39C7-585F-F112-B432050A3B28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2642884" y="3886190"/>
              <a:ext cx="786116" cy="44107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 descr="File:Cloudflare Logo.svg - Wikimedia Commons">
              <a:extLst>
                <a:ext uri="{FF2B5EF4-FFF2-40B4-BE49-F238E27FC236}">
                  <a16:creationId xmlns:a16="http://schemas.microsoft.com/office/drawing/2014/main" id="{9F9450AD-E2B7-CFE4-3A25-ECDB45A5E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16056" y="2328079"/>
              <a:ext cx="3450151" cy="1142863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613EE73-F06C-BE33-7C53-2F57503D90C1}"/>
                </a:ext>
              </a:extLst>
            </p:cNvPr>
            <p:cNvGrpSpPr/>
            <p:nvPr/>
          </p:nvGrpSpPr>
          <p:grpSpPr>
            <a:xfrm>
              <a:off x="7930945" y="3743255"/>
              <a:ext cx="3450151" cy="3450151"/>
              <a:chOff x="7930945" y="3743255"/>
              <a:chExt cx="3450151" cy="3450151"/>
            </a:xfrm>
          </p:grpSpPr>
          <p:pic>
            <p:nvPicPr>
              <p:cNvPr id="11" name="Picture 10" descr="Apple unveils new Mac Studio, the most powerful Mac ever ...">
                <a:extLst>
                  <a:ext uri="{FF2B5EF4-FFF2-40B4-BE49-F238E27FC236}">
                    <a16:creationId xmlns:a16="http://schemas.microsoft.com/office/drawing/2014/main" id="{282118F2-FF2C-9700-6840-6E9352309D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>
              <a:xfrm>
                <a:off x="7930945" y="3743255"/>
                <a:ext cx="3450151" cy="3450151"/>
              </a:xfrm>
              <a:prstGeom prst="rect">
                <a:avLst/>
              </a:prstGeom>
            </p:spPr>
          </p:pic>
          <p:pic>
            <p:nvPicPr>
              <p:cNvPr id="12" name="Picture 11" descr="Apple reveals M3 Ultra, taking Apple silicon to a new extreme - Apple (UK)">
                <a:extLst>
                  <a:ext uri="{FF2B5EF4-FFF2-40B4-BE49-F238E27FC236}">
                    <a16:creationId xmlns:a16="http://schemas.microsoft.com/office/drawing/2014/main" id="{3613362E-929D-F0A4-0916-21FC27E1E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/>
            </p:blipFill>
            <p:spPr>
              <a:xfrm>
                <a:off x="9198790" y="4841500"/>
                <a:ext cx="1662077" cy="872590"/>
              </a:xfrm>
              <a:prstGeom prst="rect">
                <a:avLst/>
              </a:prstGeom>
            </p:spPr>
          </p:pic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7C1B59A-5AD9-3889-095E-1FA0FB8655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6636" y="2622387"/>
              <a:ext cx="1620375" cy="80253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88A8B21-550C-5593-9E67-2925B655C0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8790" y="3688303"/>
              <a:ext cx="227598" cy="88088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 descr="File:OpenAI logo 2025 (symbol).svg - Wikimedia Commons">
              <a:extLst>
                <a:ext uri="{FF2B5EF4-FFF2-40B4-BE49-F238E27FC236}">
                  <a16:creationId xmlns:a16="http://schemas.microsoft.com/office/drawing/2014/main" id="{DDBD1319-A061-8C86-0AE5-919F53895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62946" y="4351383"/>
              <a:ext cx="2233893" cy="2233893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B496F74-1D4F-C21C-C9EB-66D328F3E96D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6310570" y="5468329"/>
              <a:ext cx="1620375" cy="2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CF6BEF4-0308-9089-96AA-AF2D7E5D4D88}"/>
              </a:ext>
            </a:extLst>
          </p:cNvPr>
          <p:cNvSpPr/>
          <p:nvPr/>
        </p:nvSpPr>
        <p:spPr>
          <a:xfrm>
            <a:off x="3227294" y="4527680"/>
            <a:ext cx="1640541" cy="164054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Zero-shot BERT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38439-19E5-A24D-C282-58E0E5D01B76}"/>
              </a:ext>
            </a:extLst>
          </p:cNvPr>
          <p:cNvSpPr/>
          <p:nvPr/>
        </p:nvSpPr>
        <p:spPr>
          <a:xfrm>
            <a:off x="5275729" y="4527679"/>
            <a:ext cx="1640541" cy="1640541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Fine-tuned BERT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F885715-819F-3468-7D3E-3B7131EDA32C}"/>
              </a:ext>
            </a:extLst>
          </p:cNvPr>
          <p:cNvSpPr/>
          <p:nvPr/>
        </p:nvSpPr>
        <p:spPr>
          <a:xfrm>
            <a:off x="7279179" y="4527678"/>
            <a:ext cx="1640541" cy="164054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Reasoning </a:t>
            </a:r>
            <a:r>
              <a:rPr lang="en-US" dirty="0" err="1">
                <a:solidFill>
                  <a:schemeClr val="bg1"/>
                </a:solidFill>
              </a:rPr>
              <a:t>llm</a:t>
            </a:r>
            <a:r>
              <a:rPr lang="en-US" dirty="0">
                <a:solidFill>
                  <a:schemeClr val="bg1"/>
                </a:solidFill>
              </a:rPr>
              <a:t>: GPT-OSS:20b</a:t>
            </a:r>
          </a:p>
        </p:txBody>
      </p:sp>
    </p:spTree>
    <p:extLst>
      <p:ext uri="{BB962C8B-B14F-4D97-AF65-F5344CB8AC3E}">
        <p14:creationId xmlns:p14="http://schemas.microsoft.com/office/powerpoint/2010/main" val="3211124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9C19B-4B85-2F82-0574-32B2FAD8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73569-8650-B672-74C4-FD7DE6C82C19}"/>
              </a:ext>
            </a:extLst>
          </p:cNvPr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EEFC3-78F9-9F0E-30C9-C0FC430D736E}"/>
              </a:ext>
            </a:extLst>
          </p:cNvPr>
          <p:cNvSpPr txBox="1"/>
          <p:nvPr/>
        </p:nvSpPr>
        <p:spPr>
          <a:xfrm>
            <a:off x="822960" y="2044757"/>
            <a:ext cx="10058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Vercel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-hosted w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eb app +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Cloudfare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tunnel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Three language models for classification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Zero-shot BERT, Fine-tuned BERT, GPT-OSS:20b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Inference on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Mac Studio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, M3 Ultra w/ 96 </a:t>
            </a:r>
            <a:r>
              <a:rPr lang="en-US" sz="2400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gb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unified memory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•  Image -&gt; text is done through </a:t>
            </a:r>
            <a:r>
              <a:rPr lang="en-US" sz="2400" b="1" dirty="0">
                <a:solidFill>
                  <a:srgbClr val="0B1F33"/>
                </a:solidFill>
                <a:ea typeface="IBM Plex Sans"/>
                <a:cs typeface="IBM Plex Sans"/>
              </a:rPr>
              <a:t>OpenAI API </a:t>
            </a: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key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B300E401-9F25-8886-7D93-6049FFCCF32C}"/>
              </a:ext>
            </a:extLst>
          </p:cNvPr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55E863-0DA3-5854-AB5C-CDF95E8F0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1C1EB48-EBCE-59F5-43E2-8F6A0A0AD1D0}"/>
              </a:ext>
            </a:extLst>
          </p:cNvPr>
          <p:cNvGrpSpPr/>
          <p:nvPr/>
        </p:nvGrpSpPr>
        <p:grpSpPr>
          <a:xfrm>
            <a:off x="6808532" y="366932"/>
            <a:ext cx="5045297" cy="2257487"/>
            <a:chOff x="507491" y="2328079"/>
            <a:chExt cx="10873605" cy="4865327"/>
          </a:xfrm>
        </p:grpSpPr>
        <p:pic>
          <p:nvPicPr>
            <p:cNvPr id="5" name="Picture 4" descr="Laptop emoji">
              <a:extLst>
                <a:ext uri="{FF2B5EF4-FFF2-40B4-BE49-F238E27FC236}">
                  <a16:creationId xmlns:a16="http://schemas.microsoft.com/office/drawing/2014/main" id="{A1DB544D-A404-1885-E7DB-40003ABBB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491" y="3259567"/>
              <a:ext cx="2135393" cy="2135393"/>
            </a:xfrm>
            <a:prstGeom prst="rect">
              <a:avLst/>
            </a:prstGeom>
          </p:spPr>
        </p:pic>
        <p:pic>
          <p:nvPicPr>
            <p:cNvPr id="7" name="Graphic 6" descr="File:Vercel logo 2025.svg - Wikimedia Commons">
              <a:extLst>
                <a:ext uri="{FF2B5EF4-FFF2-40B4-BE49-F238E27FC236}">
                  <a16:creationId xmlns:a16="http://schemas.microsoft.com/office/drawing/2014/main" id="{BAB7950C-48FA-56B4-EE81-084C85F608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44516" y="3259567"/>
              <a:ext cx="2670755" cy="530326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579C81D-B90F-90F8-55BB-93688A02D61B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2642884" y="3886190"/>
              <a:ext cx="786116" cy="44107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 descr="File:Cloudflare Logo.svg - Wikimedia Commons">
              <a:extLst>
                <a:ext uri="{FF2B5EF4-FFF2-40B4-BE49-F238E27FC236}">
                  <a16:creationId xmlns:a16="http://schemas.microsoft.com/office/drawing/2014/main" id="{4533D4DC-5A51-7806-31AC-986857263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16056" y="2328079"/>
              <a:ext cx="3450151" cy="1142863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39BC7CB-372E-8769-D70F-4F9061D87628}"/>
                </a:ext>
              </a:extLst>
            </p:cNvPr>
            <p:cNvGrpSpPr/>
            <p:nvPr/>
          </p:nvGrpSpPr>
          <p:grpSpPr>
            <a:xfrm>
              <a:off x="7930945" y="3743255"/>
              <a:ext cx="3450151" cy="3450151"/>
              <a:chOff x="7930945" y="3743255"/>
              <a:chExt cx="3450151" cy="3450151"/>
            </a:xfrm>
          </p:grpSpPr>
          <p:pic>
            <p:nvPicPr>
              <p:cNvPr id="11" name="Picture 10" descr="Apple unveils new Mac Studio, the most powerful Mac ever ...">
                <a:extLst>
                  <a:ext uri="{FF2B5EF4-FFF2-40B4-BE49-F238E27FC236}">
                    <a16:creationId xmlns:a16="http://schemas.microsoft.com/office/drawing/2014/main" id="{7B9E641F-DF5B-AF6D-C4C1-A4B09AF8BA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>
              <a:xfrm>
                <a:off x="7930945" y="3743255"/>
                <a:ext cx="3450151" cy="3450151"/>
              </a:xfrm>
              <a:prstGeom prst="rect">
                <a:avLst/>
              </a:prstGeom>
            </p:spPr>
          </p:pic>
          <p:pic>
            <p:nvPicPr>
              <p:cNvPr id="12" name="Picture 11" descr="Apple reveals M3 Ultra, taking Apple silicon to a new extreme - Apple (UK)">
                <a:extLst>
                  <a:ext uri="{FF2B5EF4-FFF2-40B4-BE49-F238E27FC236}">
                    <a16:creationId xmlns:a16="http://schemas.microsoft.com/office/drawing/2014/main" id="{4C9DA4AF-63EC-12A3-7F50-A19AE490F5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>
              <a:xfrm>
                <a:off x="9198790" y="4841500"/>
                <a:ext cx="1662077" cy="872590"/>
              </a:xfrm>
              <a:prstGeom prst="rect">
                <a:avLst/>
              </a:prstGeom>
            </p:spPr>
          </p:pic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55CF526-BD0D-12E7-AF1F-9E827081B9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6636" y="2622387"/>
              <a:ext cx="1620375" cy="80253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E4618A5-EA82-74E4-8DE9-A1B6B0EF56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8790" y="3688303"/>
              <a:ext cx="227598" cy="88088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 descr="File:OpenAI logo 2025 (symbol).svg - Wikimedia Commons">
              <a:extLst>
                <a:ext uri="{FF2B5EF4-FFF2-40B4-BE49-F238E27FC236}">
                  <a16:creationId xmlns:a16="http://schemas.microsoft.com/office/drawing/2014/main" id="{BA448D14-B1DC-4477-3E74-EDC4FEEB5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62946" y="4351383"/>
              <a:ext cx="2233893" cy="2233893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7B6B5A-7A15-D37B-E06B-DC86A8A33916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6310570" y="5468329"/>
              <a:ext cx="1620375" cy="2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81F8C90-8983-64FF-2BCE-5B91C52A36CB}"/>
              </a:ext>
            </a:extLst>
          </p:cNvPr>
          <p:cNvSpPr/>
          <p:nvPr/>
        </p:nvSpPr>
        <p:spPr>
          <a:xfrm>
            <a:off x="8310495" y="2313142"/>
            <a:ext cx="1523182" cy="152318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Zero-shot BERT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23A128F-C1D9-ECFE-D78F-33536603434B}"/>
              </a:ext>
            </a:extLst>
          </p:cNvPr>
          <p:cNvSpPr/>
          <p:nvPr/>
        </p:nvSpPr>
        <p:spPr>
          <a:xfrm>
            <a:off x="10376430" y="5072843"/>
            <a:ext cx="1523182" cy="152318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Reasoning </a:t>
            </a:r>
            <a:r>
              <a:rPr lang="en-US" dirty="0" err="1">
                <a:solidFill>
                  <a:schemeClr val="bg1"/>
                </a:solidFill>
              </a:rPr>
              <a:t>llm</a:t>
            </a:r>
            <a:r>
              <a:rPr lang="en-US" dirty="0">
                <a:solidFill>
                  <a:schemeClr val="bg1"/>
                </a:solidFill>
              </a:rPr>
              <a:t>: GPT-OSS:20b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5E92B5E-1E54-4AEE-5C7C-2F4C646568DC}"/>
              </a:ext>
            </a:extLst>
          </p:cNvPr>
          <p:cNvSpPr/>
          <p:nvPr/>
        </p:nvSpPr>
        <p:spPr>
          <a:xfrm>
            <a:off x="10192631" y="3074733"/>
            <a:ext cx="1523182" cy="152318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Fine-tuned BERT</a:t>
            </a:r>
          </a:p>
        </p:txBody>
      </p:sp>
    </p:spTree>
    <p:extLst>
      <p:ext uri="{BB962C8B-B14F-4D97-AF65-F5344CB8AC3E}">
        <p14:creationId xmlns:p14="http://schemas.microsoft.com/office/powerpoint/2010/main" val="3637036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18BDC-BDD6-DAFF-9D92-55D4A7FE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6EEF25-DCA6-9E87-EF7C-632A059EAACC}"/>
              </a:ext>
            </a:extLst>
          </p:cNvPr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1024B-FE4B-55BE-9A43-DE24159DD377}"/>
              </a:ext>
            </a:extLst>
          </p:cNvPr>
          <p:cNvSpPr txBox="1"/>
          <p:nvPr/>
        </p:nvSpPr>
        <p:spPr>
          <a:xfrm>
            <a:off x="822960" y="2044757"/>
            <a:ext cx="100584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Vercel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-hosted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w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eb app + </a:t>
            </a:r>
            <a:r>
              <a:rPr lang="en-US" sz="2400" b="1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Cloudfare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tunnel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Three language models for classification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Zero-shot BERT, Fine-tuned BERT, GPT-OSS:20b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Inference on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Mac Studio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, M3 Ultra w/ 96 </a:t>
            </a:r>
            <a:r>
              <a:rPr lang="en-US" sz="2400" dirty="0" err="1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gb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unified memory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•  Image -&gt; text is done through </a:t>
            </a:r>
            <a:r>
              <a:rPr lang="en-US" sz="2400" b="1" dirty="0">
                <a:solidFill>
                  <a:srgbClr val="0B1F33"/>
                </a:solidFill>
                <a:ea typeface="IBM Plex Sans"/>
                <a:cs typeface="IBM Plex Sans"/>
              </a:rPr>
              <a:t>OpenAI API </a:t>
            </a:r>
            <a:r>
              <a:rPr lang="en-US" sz="2400" dirty="0">
                <a:solidFill>
                  <a:srgbClr val="0B1F33"/>
                </a:solidFill>
                <a:ea typeface="IBM Plex Sans"/>
                <a:cs typeface="IBM Plex Sans"/>
              </a:rPr>
              <a:t>key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User notes stored on local filesystem</a:t>
            </a: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12028E6B-A855-C46D-E863-4D357AE08331}"/>
              </a:ext>
            </a:extLst>
          </p:cNvPr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9417A-FFA1-80F5-30B3-5A2533EB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161D0AE-522C-1D81-1C2B-BB77D152E18B}"/>
              </a:ext>
            </a:extLst>
          </p:cNvPr>
          <p:cNvGrpSpPr/>
          <p:nvPr/>
        </p:nvGrpSpPr>
        <p:grpSpPr>
          <a:xfrm>
            <a:off x="6808532" y="366932"/>
            <a:ext cx="5045297" cy="2257487"/>
            <a:chOff x="507491" y="2328079"/>
            <a:chExt cx="10873605" cy="4865327"/>
          </a:xfrm>
        </p:grpSpPr>
        <p:pic>
          <p:nvPicPr>
            <p:cNvPr id="5" name="Picture 4" descr="Laptop emoji">
              <a:extLst>
                <a:ext uri="{FF2B5EF4-FFF2-40B4-BE49-F238E27FC236}">
                  <a16:creationId xmlns:a16="http://schemas.microsoft.com/office/drawing/2014/main" id="{37BB5732-0ED6-6F15-7B17-44C4E8AFF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491" y="3259567"/>
              <a:ext cx="2135393" cy="2135393"/>
            </a:xfrm>
            <a:prstGeom prst="rect">
              <a:avLst/>
            </a:prstGeom>
          </p:spPr>
        </p:pic>
        <p:pic>
          <p:nvPicPr>
            <p:cNvPr id="7" name="Graphic 6" descr="File:Vercel logo 2025.svg - Wikimedia Commons">
              <a:extLst>
                <a:ext uri="{FF2B5EF4-FFF2-40B4-BE49-F238E27FC236}">
                  <a16:creationId xmlns:a16="http://schemas.microsoft.com/office/drawing/2014/main" id="{3505D5C6-F09C-EBCB-9DB9-93697D1998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44516" y="3259567"/>
              <a:ext cx="2670755" cy="530326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233D6E7-0A3E-18E2-4F44-A3C2B2BD6096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2642884" y="3886190"/>
              <a:ext cx="786116" cy="44107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 descr="File:Cloudflare Logo.svg - Wikimedia Commons">
              <a:extLst>
                <a:ext uri="{FF2B5EF4-FFF2-40B4-BE49-F238E27FC236}">
                  <a16:creationId xmlns:a16="http://schemas.microsoft.com/office/drawing/2014/main" id="{59D5D0B5-1E1E-A88D-48D4-F121F8BF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16056" y="2328079"/>
              <a:ext cx="3450151" cy="1142863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B1B2AEA-DC62-F904-2E23-258137800BD0}"/>
                </a:ext>
              </a:extLst>
            </p:cNvPr>
            <p:cNvGrpSpPr/>
            <p:nvPr/>
          </p:nvGrpSpPr>
          <p:grpSpPr>
            <a:xfrm>
              <a:off x="7930945" y="3743255"/>
              <a:ext cx="3450151" cy="3450151"/>
              <a:chOff x="7930945" y="3743255"/>
              <a:chExt cx="3450151" cy="3450151"/>
            </a:xfrm>
          </p:grpSpPr>
          <p:pic>
            <p:nvPicPr>
              <p:cNvPr id="11" name="Picture 10" descr="Apple unveils new Mac Studio, the most powerful Mac ever ...">
                <a:extLst>
                  <a:ext uri="{FF2B5EF4-FFF2-40B4-BE49-F238E27FC236}">
                    <a16:creationId xmlns:a16="http://schemas.microsoft.com/office/drawing/2014/main" id="{A733C37C-3721-D6C3-B3A7-62BD53338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>
              <a:xfrm>
                <a:off x="7930945" y="3743255"/>
                <a:ext cx="3450151" cy="3450151"/>
              </a:xfrm>
              <a:prstGeom prst="rect">
                <a:avLst/>
              </a:prstGeom>
            </p:spPr>
          </p:pic>
          <p:pic>
            <p:nvPicPr>
              <p:cNvPr id="12" name="Picture 11" descr="Apple reveals M3 Ultra, taking Apple silicon to a new extreme - Apple (UK)">
                <a:extLst>
                  <a:ext uri="{FF2B5EF4-FFF2-40B4-BE49-F238E27FC236}">
                    <a16:creationId xmlns:a16="http://schemas.microsoft.com/office/drawing/2014/main" id="{739EFF5B-5CD2-E7A5-4F7D-7158915E7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>
              <a:xfrm>
                <a:off x="9198790" y="4841500"/>
                <a:ext cx="1662077" cy="872590"/>
              </a:xfrm>
              <a:prstGeom prst="rect">
                <a:avLst/>
              </a:prstGeom>
            </p:spPr>
          </p:pic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E66C86-9A8A-E95C-22B5-C6C94A9F11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6636" y="2622387"/>
              <a:ext cx="1620375" cy="80253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6C16F70-B123-C81F-127B-510DEC0BB0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8790" y="3688303"/>
              <a:ext cx="227598" cy="880884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 descr="File:OpenAI logo 2025 (symbol).svg - Wikimedia Commons">
              <a:extLst>
                <a:ext uri="{FF2B5EF4-FFF2-40B4-BE49-F238E27FC236}">
                  <a16:creationId xmlns:a16="http://schemas.microsoft.com/office/drawing/2014/main" id="{F99FCA1C-8CF1-22CD-67E6-7CB4D6742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62946" y="4351383"/>
              <a:ext cx="2233893" cy="2233893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F53EE44-3A07-C34C-2B84-431C89146D9C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6310570" y="5468329"/>
              <a:ext cx="1620375" cy="2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2CBD4CC-4403-3658-E0A8-E01AEB935C07}"/>
              </a:ext>
            </a:extLst>
          </p:cNvPr>
          <p:cNvSpPr/>
          <p:nvPr/>
        </p:nvSpPr>
        <p:spPr>
          <a:xfrm>
            <a:off x="8310495" y="2313142"/>
            <a:ext cx="1523182" cy="152318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Zero-shot BERT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7443749-90C7-F418-35DF-F57185F45500}"/>
              </a:ext>
            </a:extLst>
          </p:cNvPr>
          <p:cNvSpPr/>
          <p:nvPr/>
        </p:nvSpPr>
        <p:spPr>
          <a:xfrm>
            <a:off x="10192631" y="3074733"/>
            <a:ext cx="1523182" cy="152318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Fine-tuned BERT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26C327B-47B1-4832-8CD2-59FCA51F4EAC}"/>
              </a:ext>
            </a:extLst>
          </p:cNvPr>
          <p:cNvSpPr/>
          <p:nvPr/>
        </p:nvSpPr>
        <p:spPr>
          <a:xfrm>
            <a:off x="10376430" y="5072843"/>
            <a:ext cx="1523182" cy="152318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Reasoning </a:t>
            </a:r>
            <a:r>
              <a:rPr lang="en-US" dirty="0" err="1">
                <a:solidFill>
                  <a:schemeClr val="bg1"/>
                </a:solidFill>
              </a:rPr>
              <a:t>llm</a:t>
            </a:r>
            <a:r>
              <a:rPr lang="en-US" dirty="0">
                <a:solidFill>
                  <a:schemeClr val="bg1"/>
                </a:solidFill>
              </a:rPr>
              <a:t>: GPT-OSS:20b</a:t>
            </a:r>
          </a:p>
        </p:txBody>
      </p:sp>
    </p:spTree>
    <p:extLst>
      <p:ext uri="{BB962C8B-B14F-4D97-AF65-F5344CB8AC3E}">
        <p14:creationId xmlns:p14="http://schemas.microsoft.com/office/powerpoint/2010/main" val="17656411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07631EE-2F8D-6256-B400-5BB5405E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02" t="10649"/>
          <a:stretch>
            <a:fillRect/>
          </a:stretch>
        </p:blipFill>
        <p:spPr>
          <a:xfrm>
            <a:off x="6174600" y="2016413"/>
            <a:ext cx="5734050" cy="367664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0584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Goal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measure classification accuracy</a:t>
            </a:r>
            <a:endParaRPr lang="en-US"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2,000 original eval runs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Models 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evaluated with every use of NoteLMs 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Threats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limited 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non-diverse data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Solution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introduce diversity by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drawing in real-world user data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0D91F-239E-0C9A-B212-2A472CA0F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5156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Problem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students don’t review their notes because of no organization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Solution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we fully sort and format thei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r notes for them</a:t>
            </a:r>
          </a:p>
          <a:p>
            <a:pPr>
              <a:spcAft>
                <a:spcPts val="1800"/>
              </a:spcAft>
            </a:pP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	Built-in 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chatbot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answers questions about notes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		</a:t>
            </a:r>
            <a:r>
              <a:rPr lang="en-US"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Voice</a:t>
            </a:r>
            <a:r>
              <a:rPr lang="en-US" sz="240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reads aloud notes when it’s time for test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Research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compare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s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and score three models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 live, with every new input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  <a:p>
            <a:pPr>
              <a:spcAft>
                <a:spcPts val="1800"/>
              </a:spcAft>
            </a:pP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•  </a:t>
            </a:r>
            <a:r>
              <a:rPr sz="2400" b="1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Future work</a:t>
            </a:r>
            <a:r>
              <a:rPr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: </a:t>
            </a:r>
            <a:r>
              <a:rPr lang="en-US" sz="2400" b="0" dirty="0">
                <a:solidFill>
                  <a:srgbClr val="0B1F33"/>
                </a:solidFill>
                <a:latin typeface="IBM Plex Sans"/>
                <a:ea typeface="IBM Plex Sans"/>
                <a:cs typeface="IBM Plex Sans"/>
              </a:rPr>
              <a:t>local image to text, comparing between different LLMs</a:t>
            </a:r>
            <a:endParaRPr sz="24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/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0F6F62-4039-45CF-F20C-F56992B96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5A914-4907-E09A-359C-F75F9CDD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57E84E-42CE-FD9D-3549-B43CB75319DA}"/>
              </a:ext>
            </a:extLst>
          </p:cNvPr>
          <p:cNvSpPr txBox="1"/>
          <p:nvPr/>
        </p:nvSpPr>
        <p:spPr>
          <a:xfrm>
            <a:off x="822960" y="548640"/>
            <a:ext cx="21555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1A6B8A"/>
                </a:solidFill>
                <a:latin typeface="Fraunces"/>
                <a:ea typeface="Fraunces"/>
                <a:cs typeface="Fraunces"/>
              </a:rPr>
              <a:t>Site Demo</a:t>
            </a:r>
            <a:endParaRPr sz="3600" b="1" dirty="0">
              <a:solidFill>
                <a:srgbClr val="1A6B8A"/>
              </a:solidFill>
              <a:latin typeface="Fraunces"/>
              <a:ea typeface="Fraunces"/>
              <a:cs typeface="Fraunce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AD5CF-13AB-3E0D-F679-451748A2C1EE}"/>
              </a:ext>
            </a:extLst>
          </p:cNvPr>
          <p:cNvSpPr txBox="1"/>
          <p:nvPr/>
        </p:nvSpPr>
        <p:spPr>
          <a:xfrm>
            <a:off x="1066800" y="3016214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4000" dirty="0">
                <a:solidFill>
                  <a:srgbClr val="0B1F33"/>
                </a:solidFill>
                <a:ea typeface="IBM Plex Sans"/>
                <a:cs typeface="IBM Plex Sans"/>
                <a:hlinkClick r:id="rId3"/>
              </a:rPr>
              <a:t>https://notelms.com/</a:t>
            </a:r>
            <a:r>
              <a:rPr lang="en-US" sz="4000" dirty="0">
                <a:solidFill>
                  <a:srgbClr val="0B1F33"/>
                </a:solidFill>
                <a:ea typeface="IBM Plex Sans"/>
                <a:cs typeface="IBM Plex Sans"/>
              </a:rPr>
              <a:t> </a:t>
            </a:r>
            <a:endParaRPr sz="4000" b="0" dirty="0">
              <a:solidFill>
                <a:srgbClr val="0B1F33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Accent Bar">
            <a:extLst>
              <a:ext uri="{FF2B5EF4-FFF2-40B4-BE49-F238E27FC236}">
                <a16:creationId xmlns:a16="http://schemas.microsoft.com/office/drawing/2014/main" id="{60D9E5A9-ABC7-1DFC-195C-B9B6968D50AD}"/>
              </a:ext>
            </a:extLst>
          </p:cNvPr>
          <p:cNvSpPr/>
          <p:nvPr/>
        </p:nvSpPr>
        <p:spPr>
          <a:xfrm>
            <a:off x="822960" y="1463040"/>
            <a:ext cx="2286000" cy="381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622BFA-C7BC-7D83-3549-F738382F5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45343"/>
            <a:ext cx="3150377" cy="131265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F5AFEE2-7B02-286E-0AEE-ADA3098CC47F}"/>
              </a:ext>
            </a:extLst>
          </p:cNvPr>
          <p:cNvGrpSpPr/>
          <p:nvPr/>
        </p:nvGrpSpPr>
        <p:grpSpPr>
          <a:xfrm>
            <a:off x="7342909" y="1714500"/>
            <a:ext cx="3429000" cy="3429000"/>
            <a:chOff x="2667000" y="0"/>
            <a:chExt cx="6858000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12381D1-3DB9-B026-AD4C-AA4FC8866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1FDC09-FF21-6AF4-ABD4-E12994BBE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9296" y="2372296"/>
              <a:ext cx="2113407" cy="2113407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072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oteLMs Light">
  <a:themeElements>
    <a:clrScheme name="NoteLMsLight">
      <a:dk1>
        <a:sysClr val="windowText" lastClr="0B1F33"/>
      </a:dk1>
      <a:lt1>
        <a:sysClr val="window" lastClr="F4F7FA"/>
      </a:lt1>
      <a:dk2>
        <a:srgbClr val="5A7186"/>
      </a:dk2>
      <a:lt2>
        <a:srgbClr val="DCE8F1"/>
      </a:lt2>
      <a:accent1>
        <a:srgbClr val="1A6B8A"/>
      </a:accent1>
      <a:accent2>
        <a:srgbClr val="0E4A63"/>
      </a:accent2>
      <a:accent3>
        <a:srgbClr val="D0DBE6"/>
      </a:accent3>
      <a:accent4>
        <a:srgbClr val="5A7186"/>
      </a:accent4>
      <a:accent5>
        <a:srgbClr val="3D8FAD"/>
      </a:accent5>
      <a:accent6>
        <a:srgbClr val="DCE8F1"/>
      </a:accent6>
      <a:hlink>
        <a:srgbClr val="1A6B8A"/>
      </a:hlink>
      <a:folHlink>
        <a:srgbClr val="0E4A63"/>
      </a:folHlink>
    </a:clrScheme>
    <a:fontScheme name="NoteLMs">
      <a:majorFont>
        <a:latin typeface="Fraunce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41C1A"/>
      </a:dk2>
      <a:lt2>
        <a:srgbClr val="EEF2F0"/>
      </a:lt2>
      <a:accent1>
        <a:srgbClr val="2F5F5A"/>
      </a:accent1>
      <a:accent2>
        <a:srgbClr val="7A24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Fraunce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592</Words>
  <Application>Microsoft Macintosh PowerPoint</Application>
  <PresentationFormat>Widescreen</PresentationFormat>
  <Paragraphs>95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Fraunces</vt:lpstr>
      <vt:lpstr>IBM Plex Sans</vt:lpstr>
      <vt:lpstr>NoteLMs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 Levin</cp:lastModifiedBy>
  <cp:revision>10</cp:revision>
  <dcterms:created xsi:type="dcterms:W3CDTF">2013-01-27T09:14:16Z</dcterms:created>
  <dcterms:modified xsi:type="dcterms:W3CDTF">2026-07-22T15:29:17Z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2145c00-f4d6-4f27-874c-dea6154370e3_Enabled">
    <vt:lpwstr>true</vt:lpwstr>
  </property>
  <property fmtid="{D5CDD505-2E9C-101B-9397-08002B2CF9AE}" pid="3" name="MSIP_Label_f2145c00-f4d6-4f27-874c-dea6154370e3_SetDate">
    <vt:lpwstr>2026-07-22T13:32:51Z</vt:lpwstr>
  </property>
  <property fmtid="{D5CDD505-2E9C-101B-9397-08002B2CF9AE}" pid="4" name="MSIP_Label_f2145c00-f4d6-4f27-874c-dea6154370e3_Method">
    <vt:lpwstr>Standard</vt:lpwstr>
  </property>
  <property fmtid="{D5CDD505-2E9C-101B-9397-08002B2CF9AE}" pid="5" name="MSIP_Label_f2145c00-f4d6-4f27-874c-dea6154370e3_Name">
    <vt:lpwstr>defa4170-0d19-0005-0004-bc88714345d2</vt:lpwstr>
  </property>
  <property fmtid="{D5CDD505-2E9C-101B-9397-08002B2CF9AE}" pid="6" name="MSIP_Label_f2145c00-f4d6-4f27-874c-dea6154370e3_SiteId">
    <vt:lpwstr>b2681e8b-dd20-46cf-b163-371a2d7c6014</vt:lpwstr>
  </property>
  <property fmtid="{D5CDD505-2E9C-101B-9397-08002B2CF9AE}" pid="7" name="MSIP_Label_f2145c00-f4d6-4f27-874c-dea6154370e3_ActionId">
    <vt:lpwstr>638e7344-8a5d-411f-a1f3-0a888f4bd13f</vt:lpwstr>
  </property>
  <property fmtid="{D5CDD505-2E9C-101B-9397-08002B2CF9AE}" pid="8" name="MSIP_Label_f2145c00-f4d6-4f27-874c-dea6154370e3_ContentBits">
    <vt:lpwstr>0</vt:lpwstr>
  </property>
  <property fmtid="{D5CDD505-2E9C-101B-9397-08002B2CF9AE}" pid="9" name="MSIP_Label_f2145c00-f4d6-4f27-874c-dea6154370e3_Tag">
    <vt:lpwstr>50, 3, 0, 1</vt:lpwstr>
  </property>
</Properties>
</file>