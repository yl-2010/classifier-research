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58" r:id="rId5"/>
    <p:sldId id="259" r:id="rId6"/>
    <p:sldId id="260" r:id="rId7"/>
    <p:sldId id="267" r:id="rId8"/>
    <p:sldId id="262" r:id="rId9"/>
    <p:sldId id="268" r:id="rId10"/>
    <p:sldId id="263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83954"/>
  </p:normalViewPr>
  <p:slideViewPr>
    <p:cSldViewPr snapToGrid="0" snapToObjects="1">
      <p:cViewPr varScale="1"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2031AD-6A4A-AB4C-A032-AA4BAF346178}" type="doc">
      <dgm:prSet loTypeId="urn:microsoft.com/office/officeart/2005/8/layout/cycle7" loCatId="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75C74D-FDB0-9249-9ED8-1A090C319A3F}">
      <dgm:prSet phldrT="[Text]" custT="1"/>
      <dgm:spPr>
        <a:gradFill rotWithShape="0">
          <a:gsLst>
            <a:gs pos="0">
              <a:srgbClr val="C00000"/>
            </a:gs>
            <a:gs pos="100000">
              <a:srgbClr val="FF0000"/>
            </a:gs>
          </a:gsLst>
        </a:gradFill>
      </dgm:spPr>
      <dgm:t>
        <a:bodyPr/>
        <a:lstStyle/>
        <a:p>
          <a:r>
            <a:rPr lang="en-US" sz="3200" b="1" dirty="0"/>
            <a:t>Notes chaotic &amp; rarely-reviewed</a:t>
          </a:r>
        </a:p>
      </dgm:t>
    </dgm:pt>
    <dgm:pt modelId="{D3F2B3E9-487B-394E-96F0-002A9419196B}" type="parTrans" cxnId="{3D73FA17-36A2-7848-9FD3-EDA07C17E24E}">
      <dgm:prSet/>
      <dgm:spPr/>
      <dgm:t>
        <a:bodyPr/>
        <a:lstStyle/>
        <a:p>
          <a:endParaRPr lang="en-US"/>
        </a:p>
      </dgm:t>
    </dgm:pt>
    <dgm:pt modelId="{B3487C99-BD84-CC48-9B16-150E9D165D35}" type="sibTrans" cxnId="{3D73FA17-36A2-7848-9FD3-EDA07C17E24E}">
      <dgm:prSet/>
      <dgm:spPr/>
      <dgm:t>
        <a:bodyPr/>
        <a:lstStyle/>
        <a:p>
          <a:endParaRPr lang="en-US"/>
        </a:p>
      </dgm:t>
    </dgm:pt>
    <dgm:pt modelId="{404CF843-38E3-3B49-BCDA-DCADB3A748FE}">
      <dgm:prSet phldrT="[Text]"/>
      <dgm:spPr>
        <a:gradFill rotWithShape="0">
          <a:gsLst>
            <a:gs pos="0">
              <a:schemeClr val="accent1">
                <a:hueOff val="0"/>
                <a:satOff val="0"/>
                <a:alphaOff val="0"/>
                <a:tint val="100000"/>
                <a:shade val="100000"/>
                <a:satMod val="130000"/>
                <a:lumMod val="41000"/>
              </a:schemeClr>
            </a:gs>
            <a:gs pos="100000">
              <a:schemeClr val="accent1">
                <a:hueOff val="0"/>
                <a:satOff val="0"/>
                <a:alphaOff val="0"/>
                <a:tint val="50000"/>
                <a:shade val="100000"/>
                <a:satMod val="350000"/>
                <a:lumMod val="73141"/>
              </a:schemeClr>
            </a:gs>
          </a:gsLst>
        </a:gradFill>
      </dgm:spPr>
      <dgm:t>
        <a:bodyPr/>
        <a:lstStyle/>
        <a:p>
          <a:r>
            <a:rPr lang="en-US" dirty="0"/>
            <a:t>w/ digital tools still requires manual organization</a:t>
          </a:r>
        </a:p>
      </dgm:t>
    </dgm:pt>
    <dgm:pt modelId="{F817157A-A264-AD44-BD60-769254D1B315}" type="parTrans" cxnId="{A4E19F2B-80D4-CD49-9C27-F1602C3BBD24}">
      <dgm:prSet/>
      <dgm:spPr/>
      <dgm:t>
        <a:bodyPr/>
        <a:lstStyle/>
        <a:p>
          <a:endParaRPr lang="en-US"/>
        </a:p>
      </dgm:t>
    </dgm:pt>
    <dgm:pt modelId="{5AE86651-B628-9B4F-9A7F-B6E03F0EB7B3}" type="sibTrans" cxnId="{A4E19F2B-80D4-CD49-9C27-F1602C3BBD24}">
      <dgm:prSet/>
      <dgm:spPr/>
      <dgm:t>
        <a:bodyPr/>
        <a:lstStyle/>
        <a:p>
          <a:endParaRPr lang="en-US"/>
        </a:p>
      </dgm:t>
    </dgm:pt>
    <dgm:pt modelId="{4AD5BE63-6899-6D41-9EDF-9194F6916EE0}">
      <dgm:prSet phldrT="[Text]" custT="1"/>
      <dgm:spPr>
        <a:gradFill rotWithShape="0">
          <a:gsLst>
            <a:gs pos="0">
              <a:srgbClr val="1A6B8A">
                <a:hueOff val="0"/>
                <a:satOff val="0"/>
                <a:alphaOff val="0"/>
                <a:tint val="100000"/>
                <a:shade val="100000"/>
                <a:satMod val="130000"/>
                <a:lumMod val="41000"/>
              </a:srgbClr>
            </a:gs>
            <a:gs pos="100000">
              <a:srgbClr val="1A6B8A">
                <a:hueOff val="0"/>
                <a:satOff val="0"/>
                <a:alphaOff val="0"/>
                <a:tint val="50000"/>
                <a:shade val="100000"/>
                <a:satMod val="350000"/>
                <a:lumMod val="73141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gm:spPr>
      <dgm:t>
        <a:bodyPr spcFirstLastPara="0" vert="horz" wrap="square" lIns="80010" tIns="80010" rIns="80010" bIns="80010" numCol="1" spcCol="1270" anchor="ctr" anchorCtr="0"/>
        <a:lstStyle/>
        <a:p>
          <a:r>
            <a:rPr lang="en-US" sz="2100" kern="1200" dirty="0">
              <a:solidFill>
                <a:prstClr val="white"/>
              </a:solidFill>
              <a:latin typeface="IBM Plex Sans"/>
              <a:ea typeface="+mn-ea"/>
              <a:cs typeface="+mn-cs"/>
            </a:rPr>
            <a:t>Notetaking</a:t>
          </a:r>
          <a:r>
            <a:rPr lang="en-US" sz="2100" kern="1200" dirty="0"/>
            <a:t> w/o tools requires physical organization</a:t>
          </a:r>
        </a:p>
      </dgm:t>
    </dgm:pt>
    <dgm:pt modelId="{73FE1181-08AE-904E-AFAD-07C77B82AC2A}" type="parTrans" cxnId="{B4134A48-CE36-6741-8B62-825655012DC1}">
      <dgm:prSet/>
      <dgm:spPr/>
      <dgm:t>
        <a:bodyPr/>
        <a:lstStyle/>
        <a:p>
          <a:endParaRPr lang="en-US"/>
        </a:p>
      </dgm:t>
    </dgm:pt>
    <dgm:pt modelId="{24B3896D-3B64-D944-8E51-D27833A80C0A}" type="sibTrans" cxnId="{B4134A48-CE36-6741-8B62-825655012DC1}">
      <dgm:prSet/>
      <dgm:spPr/>
      <dgm:t>
        <a:bodyPr/>
        <a:lstStyle/>
        <a:p>
          <a:endParaRPr lang="en-US"/>
        </a:p>
      </dgm:t>
    </dgm:pt>
    <dgm:pt modelId="{C688154D-5FF6-C142-80C1-03AD178E967B}" type="pres">
      <dgm:prSet presAssocID="{D12031AD-6A4A-AB4C-A032-AA4BAF346178}" presName="Name0" presStyleCnt="0">
        <dgm:presLayoutVars>
          <dgm:dir/>
          <dgm:resizeHandles val="exact"/>
        </dgm:presLayoutVars>
      </dgm:prSet>
      <dgm:spPr/>
    </dgm:pt>
    <dgm:pt modelId="{E388B8D4-4923-1B49-9A74-0BF00946F9F6}" type="pres">
      <dgm:prSet presAssocID="{DD75C74D-FDB0-9249-9ED8-1A090C319A3F}" presName="node" presStyleLbl="node1" presStyleIdx="0" presStyleCnt="3" custScaleX="232675" custScaleY="91949" custRadScaleRad="62823" custRadScaleInc="685">
        <dgm:presLayoutVars>
          <dgm:bulletEnabled val="1"/>
        </dgm:presLayoutVars>
      </dgm:prSet>
      <dgm:spPr/>
    </dgm:pt>
    <dgm:pt modelId="{830641F1-93CD-854B-8007-BCA42D5CEBE7}" type="pres">
      <dgm:prSet presAssocID="{B3487C99-BD84-CC48-9B16-150E9D165D35}" presName="sibTrans" presStyleLbl="sibTrans2D1" presStyleIdx="0" presStyleCnt="3"/>
      <dgm:spPr/>
    </dgm:pt>
    <dgm:pt modelId="{74AC3AD7-4AB6-A547-8055-A37F1C9AF6F2}" type="pres">
      <dgm:prSet presAssocID="{B3487C99-BD84-CC48-9B16-150E9D165D35}" presName="connectorText" presStyleLbl="sibTrans2D1" presStyleIdx="0" presStyleCnt="3"/>
      <dgm:spPr/>
    </dgm:pt>
    <dgm:pt modelId="{DCD16AB2-3F6D-3F4B-897E-1DE4C151754F}" type="pres">
      <dgm:prSet presAssocID="{404CF843-38E3-3B49-BCDA-DCADB3A748FE}" presName="node" presStyleLbl="node1" presStyleIdx="1" presStyleCnt="3">
        <dgm:presLayoutVars>
          <dgm:bulletEnabled val="1"/>
        </dgm:presLayoutVars>
      </dgm:prSet>
      <dgm:spPr/>
    </dgm:pt>
    <dgm:pt modelId="{533731A3-D711-3744-92C7-01E7FD212FBE}" type="pres">
      <dgm:prSet presAssocID="{5AE86651-B628-9B4F-9A7F-B6E03F0EB7B3}" presName="sibTrans" presStyleLbl="sibTrans2D1" presStyleIdx="1" presStyleCnt="3"/>
      <dgm:spPr/>
    </dgm:pt>
    <dgm:pt modelId="{CD2F6238-209F-3145-891B-66B68BEB4653}" type="pres">
      <dgm:prSet presAssocID="{5AE86651-B628-9B4F-9A7F-B6E03F0EB7B3}" presName="connectorText" presStyleLbl="sibTrans2D1" presStyleIdx="1" presStyleCnt="3"/>
      <dgm:spPr/>
    </dgm:pt>
    <dgm:pt modelId="{1DA1DAFA-3EC1-2C47-AAB4-988C3902C11C}" type="pres">
      <dgm:prSet presAssocID="{4AD5BE63-6899-6D41-9EDF-9194F6916EE0}" presName="node" presStyleLbl="node1" presStyleIdx="2" presStyleCnt="3">
        <dgm:presLayoutVars>
          <dgm:bulletEnabled val="1"/>
        </dgm:presLayoutVars>
      </dgm:prSet>
      <dgm:spPr>
        <a:xfrm>
          <a:off x="1815556" y="4006316"/>
          <a:ext cx="2795431" cy="1397715"/>
        </a:xfrm>
        <a:prstGeom prst="roundRect">
          <a:avLst>
            <a:gd name="adj" fmla="val 10000"/>
          </a:avLst>
        </a:prstGeom>
      </dgm:spPr>
    </dgm:pt>
    <dgm:pt modelId="{44BF6D9A-642C-DF45-BC62-EAE16E1B712B}" type="pres">
      <dgm:prSet presAssocID="{24B3896D-3B64-D944-8E51-D27833A80C0A}" presName="sibTrans" presStyleLbl="sibTrans2D1" presStyleIdx="2" presStyleCnt="3"/>
      <dgm:spPr/>
    </dgm:pt>
    <dgm:pt modelId="{B98F9C3B-5B07-E143-B546-F6761ED4E223}" type="pres">
      <dgm:prSet presAssocID="{24B3896D-3B64-D944-8E51-D27833A80C0A}" presName="connectorText" presStyleLbl="sibTrans2D1" presStyleIdx="2" presStyleCnt="3"/>
      <dgm:spPr/>
    </dgm:pt>
  </dgm:ptLst>
  <dgm:cxnLst>
    <dgm:cxn modelId="{ABCD9F00-8E38-584C-BC41-19971942C75B}" type="presOf" srcId="{24B3896D-3B64-D944-8E51-D27833A80C0A}" destId="{B98F9C3B-5B07-E143-B546-F6761ED4E223}" srcOrd="1" destOrd="0" presId="urn:microsoft.com/office/officeart/2005/8/layout/cycle7"/>
    <dgm:cxn modelId="{E84A3D0E-4E31-394D-9BCF-E7D2B7349A60}" type="presOf" srcId="{B3487C99-BD84-CC48-9B16-150E9D165D35}" destId="{830641F1-93CD-854B-8007-BCA42D5CEBE7}" srcOrd="0" destOrd="0" presId="urn:microsoft.com/office/officeart/2005/8/layout/cycle7"/>
    <dgm:cxn modelId="{3D73FA17-36A2-7848-9FD3-EDA07C17E24E}" srcId="{D12031AD-6A4A-AB4C-A032-AA4BAF346178}" destId="{DD75C74D-FDB0-9249-9ED8-1A090C319A3F}" srcOrd="0" destOrd="0" parTransId="{D3F2B3E9-487B-394E-96F0-002A9419196B}" sibTransId="{B3487C99-BD84-CC48-9B16-150E9D165D35}"/>
    <dgm:cxn modelId="{A4E19F2B-80D4-CD49-9C27-F1602C3BBD24}" srcId="{D12031AD-6A4A-AB4C-A032-AA4BAF346178}" destId="{404CF843-38E3-3B49-BCDA-DCADB3A748FE}" srcOrd="1" destOrd="0" parTransId="{F817157A-A264-AD44-BD60-769254D1B315}" sibTransId="{5AE86651-B628-9B4F-9A7F-B6E03F0EB7B3}"/>
    <dgm:cxn modelId="{CE132E30-9387-2B40-AA3A-EC1836559673}" type="presOf" srcId="{404CF843-38E3-3B49-BCDA-DCADB3A748FE}" destId="{DCD16AB2-3F6D-3F4B-897E-1DE4C151754F}" srcOrd="0" destOrd="0" presId="urn:microsoft.com/office/officeart/2005/8/layout/cycle7"/>
    <dgm:cxn modelId="{F97D943C-B11C-1E4F-A739-65A302F0C724}" type="presOf" srcId="{B3487C99-BD84-CC48-9B16-150E9D165D35}" destId="{74AC3AD7-4AB6-A547-8055-A37F1C9AF6F2}" srcOrd="1" destOrd="0" presId="urn:microsoft.com/office/officeart/2005/8/layout/cycle7"/>
    <dgm:cxn modelId="{B4134A48-CE36-6741-8B62-825655012DC1}" srcId="{D12031AD-6A4A-AB4C-A032-AA4BAF346178}" destId="{4AD5BE63-6899-6D41-9EDF-9194F6916EE0}" srcOrd="2" destOrd="0" parTransId="{73FE1181-08AE-904E-AFAD-07C77B82AC2A}" sibTransId="{24B3896D-3B64-D944-8E51-D27833A80C0A}"/>
    <dgm:cxn modelId="{EADC704E-AF1D-544E-822F-F57FB2AB914A}" type="presOf" srcId="{DD75C74D-FDB0-9249-9ED8-1A090C319A3F}" destId="{E388B8D4-4923-1B49-9A74-0BF00946F9F6}" srcOrd="0" destOrd="0" presId="urn:microsoft.com/office/officeart/2005/8/layout/cycle7"/>
    <dgm:cxn modelId="{357405AA-8924-8F4E-B103-4150670A8C40}" type="presOf" srcId="{5AE86651-B628-9B4F-9A7F-B6E03F0EB7B3}" destId="{533731A3-D711-3744-92C7-01E7FD212FBE}" srcOrd="0" destOrd="0" presId="urn:microsoft.com/office/officeart/2005/8/layout/cycle7"/>
    <dgm:cxn modelId="{A9AAA1B8-0DF2-254D-AA5E-E6678F7FFD06}" type="presOf" srcId="{4AD5BE63-6899-6D41-9EDF-9194F6916EE0}" destId="{1DA1DAFA-3EC1-2C47-AAB4-988C3902C11C}" srcOrd="0" destOrd="0" presId="urn:microsoft.com/office/officeart/2005/8/layout/cycle7"/>
    <dgm:cxn modelId="{3F1D29CC-D06F-B640-962E-6CD710655DB7}" type="presOf" srcId="{5AE86651-B628-9B4F-9A7F-B6E03F0EB7B3}" destId="{CD2F6238-209F-3145-891B-66B68BEB4653}" srcOrd="1" destOrd="0" presId="urn:microsoft.com/office/officeart/2005/8/layout/cycle7"/>
    <dgm:cxn modelId="{8BD13AD6-D4E8-E14D-8A22-0DF73A4778DB}" type="presOf" srcId="{24B3896D-3B64-D944-8E51-D27833A80C0A}" destId="{44BF6D9A-642C-DF45-BC62-EAE16E1B712B}" srcOrd="0" destOrd="0" presId="urn:microsoft.com/office/officeart/2005/8/layout/cycle7"/>
    <dgm:cxn modelId="{6FEAE8FF-E25F-284C-91AA-B7DB291F30F4}" type="presOf" srcId="{D12031AD-6A4A-AB4C-A032-AA4BAF346178}" destId="{C688154D-5FF6-C142-80C1-03AD178E967B}" srcOrd="0" destOrd="0" presId="urn:microsoft.com/office/officeart/2005/8/layout/cycle7"/>
    <dgm:cxn modelId="{7E23C0CC-6491-CD4D-A19C-C97C7822EB44}" type="presParOf" srcId="{C688154D-5FF6-C142-80C1-03AD178E967B}" destId="{E388B8D4-4923-1B49-9A74-0BF00946F9F6}" srcOrd="0" destOrd="0" presId="urn:microsoft.com/office/officeart/2005/8/layout/cycle7"/>
    <dgm:cxn modelId="{59A6B45F-88C4-7C4E-BE76-A9045538A551}" type="presParOf" srcId="{C688154D-5FF6-C142-80C1-03AD178E967B}" destId="{830641F1-93CD-854B-8007-BCA42D5CEBE7}" srcOrd="1" destOrd="0" presId="urn:microsoft.com/office/officeart/2005/8/layout/cycle7"/>
    <dgm:cxn modelId="{ADA8C722-3FDB-8747-ABFB-14FC343914B9}" type="presParOf" srcId="{830641F1-93CD-854B-8007-BCA42D5CEBE7}" destId="{74AC3AD7-4AB6-A547-8055-A37F1C9AF6F2}" srcOrd="0" destOrd="0" presId="urn:microsoft.com/office/officeart/2005/8/layout/cycle7"/>
    <dgm:cxn modelId="{D87616F7-66B1-C441-94FB-DC80C618B6B0}" type="presParOf" srcId="{C688154D-5FF6-C142-80C1-03AD178E967B}" destId="{DCD16AB2-3F6D-3F4B-897E-1DE4C151754F}" srcOrd="2" destOrd="0" presId="urn:microsoft.com/office/officeart/2005/8/layout/cycle7"/>
    <dgm:cxn modelId="{CE7806D7-F8CE-1B49-9D4D-0FB236714AF7}" type="presParOf" srcId="{C688154D-5FF6-C142-80C1-03AD178E967B}" destId="{533731A3-D711-3744-92C7-01E7FD212FBE}" srcOrd="3" destOrd="0" presId="urn:microsoft.com/office/officeart/2005/8/layout/cycle7"/>
    <dgm:cxn modelId="{4EAAD982-1EF7-D448-9CFE-F45C8D01A07F}" type="presParOf" srcId="{533731A3-D711-3744-92C7-01E7FD212FBE}" destId="{CD2F6238-209F-3145-891B-66B68BEB4653}" srcOrd="0" destOrd="0" presId="urn:microsoft.com/office/officeart/2005/8/layout/cycle7"/>
    <dgm:cxn modelId="{D34C37FD-8505-0744-931C-23C57CD96381}" type="presParOf" srcId="{C688154D-5FF6-C142-80C1-03AD178E967B}" destId="{1DA1DAFA-3EC1-2C47-AAB4-988C3902C11C}" srcOrd="4" destOrd="0" presId="urn:microsoft.com/office/officeart/2005/8/layout/cycle7"/>
    <dgm:cxn modelId="{F4D3F377-F18F-494F-AF6C-994B9B5EC9D2}" type="presParOf" srcId="{C688154D-5FF6-C142-80C1-03AD178E967B}" destId="{44BF6D9A-642C-DF45-BC62-EAE16E1B712B}" srcOrd="5" destOrd="0" presId="urn:microsoft.com/office/officeart/2005/8/layout/cycle7"/>
    <dgm:cxn modelId="{1F497972-7C9C-B942-94C9-D53549EBC79B}" type="presParOf" srcId="{44BF6D9A-642C-DF45-BC62-EAE16E1B712B}" destId="{B98F9C3B-5B07-E143-B546-F6761ED4E223}" srcOrd="0" destOrd="0" presId="urn:microsoft.com/office/officeart/2005/8/layout/cycle7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8B8D4-4923-1B49-9A74-0BF00946F9F6}">
      <dsp:nvSpPr>
        <dsp:cNvPr id="0" name=""/>
        <dsp:cNvSpPr/>
      </dsp:nvSpPr>
      <dsp:spPr>
        <a:xfrm>
          <a:off x="2286003" y="1049542"/>
          <a:ext cx="6504270" cy="1285185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C00000"/>
            </a:gs>
            <a:gs pos="100000">
              <a:srgbClr val="FF0000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Notes chaotic &amp; rarely-reviewed</a:t>
          </a:r>
        </a:p>
      </dsp:txBody>
      <dsp:txXfrm>
        <a:off x="2323645" y="1087184"/>
        <a:ext cx="6428986" cy="1209901"/>
      </dsp:txXfrm>
    </dsp:sp>
    <dsp:sp modelId="{830641F1-93CD-854B-8007-BCA42D5CEBE7}">
      <dsp:nvSpPr>
        <dsp:cNvPr id="0" name=""/>
        <dsp:cNvSpPr/>
      </dsp:nvSpPr>
      <dsp:spPr>
        <a:xfrm rot="3158050">
          <a:off x="5934962" y="2925922"/>
          <a:ext cx="1464185" cy="489200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081722" y="3023762"/>
        <a:ext cx="1170665" cy="293520"/>
      </dsp:txXfrm>
    </dsp:sp>
    <dsp:sp modelId="{DCD16AB2-3F6D-3F4B-897E-1DE4C151754F}">
      <dsp:nvSpPr>
        <dsp:cNvPr id="0" name=""/>
        <dsp:cNvSpPr/>
      </dsp:nvSpPr>
      <dsp:spPr>
        <a:xfrm>
          <a:off x="6441219" y="4006316"/>
          <a:ext cx="2795431" cy="1397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alphaOff val="0"/>
                <a:tint val="100000"/>
                <a:shade val="100000"/>
                <a:satMod val="130000"/>
                <a:lumMod val="41000"/>
              </a:schemeClr>
            </a:gs>
            <a:gs pos="100000">
              <a:schemeClr val="accent1">
                <a:hueOff val="0"/>
                <a:satOff val="0"/>
                <a:alphaOff val="0"/>
                <a:tint val="50000"/>
                <a:shade val="100000"/>
                <a:satMod val="350000"/>
                <a:lumMod val="73141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w/ digital tools still requires manual organization</a:t>
          </a:r>
        </a:p>
      </dsp:txBody>
      <dsp:txXfrm>
        <a:off x="6482157" y="4047254"/>
        <a:ext cx="2713555" cy="1315839"/>
      </dsp:txXfrm>
    </dsp:sp>
    <dsp:sp modelId="{533731A3-D711-3744-92C7-01E7FD212FBE}">
      <dsp:nvSpPr>
        <dsp:cNvPr id="0" name=""/>
        <dsp:cNvSpPr/>
      </dsp:nvSpPr>
      <dsp:spPr>
        <a:xfrm rot="10800000">
          <a:off x="4794011" y="4460574"/>
          <a:ext cx="1464185" cy="489200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4940771" y="4558414"/>
        <a:ext cx="1170665" cy="293520"/>
      </dsp:txXfrm>
    </dsp:sp>
    <dsp:sp modelId="{1DA1DAFA-3EC1-2C47-AAB4-988C3902C11C}">
      <dsp:nvSpPr>
        <dsp:cNvPr id="0" name=""/>
        <dsp:cNvSpPr/>
      </dsp:nvSpPr>
      <dsp:spPr>
        <a:xfrm>
          <a:off x="1815556" y="4006316"/>
          <a:ext cx="2795431" cy="1397715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1A6B8A">
                <a:hueOff val="0"/>
                <a:satOff val="0"/>
                <a:alphaOff val="0"/>
                <a:tint val="100000"/>
                <a:shade val="100000"/>
                <a:satMod val="130000"/>
                <a:lumMod val="41000"/>
              </a:srgbClr>
            </a:gs>
            <a:gs pos="100000">
              <a:srgbClr val="1A6B8A">
                <a:hueOff val="0"/>
                <a:satOff val="0"/>
                <a:alphaOff val="0"/>
                <a:tint val="50000"/>
                <a:shade val="100000"/>
                <a:satMod val="350000"/>
                <a:lumMod val="73141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prstClr val="white"/>
              </a:solidFill>
              <a:latin typeface="IBM Plex Sans"/>
              <a:ea typeface="+mn-ea"/>
              <a:cs typeface="+mn-cs"/>
            </a:rPr>
            <a:t>Notetaking</a:t>
          </a:r>
          <a:r>
            <a:rPr lang="en-US" sz="2100" kern="1200" dirty="0"/>
            <a:t> w/o tools requires physical organization</a:t>
          </a:r>
        </a:p>
      </dsp:txBody>
      <dsp:txXfrm>
        <a:off x="1856494" y="4047254"/>
        <a:ext cx="2713555" cy="1315839"/>
      </dsp:txXfrm>
    </dsp:sp>
    <dsp:sp modelId="{44BF6D9A-642C-DF45-BC62-EAE16E1B712B}">
      <dsp:nvSpPr>
        <dsp:cNvPr id="0" name=""/>
        <dsp:cNvSpPr/>
      </dsp:nvSpPr>
      <dsp:spPr>
        <a:xfrm rot="18459231">
          <a:off x="3665320" y="2925922"/>
          <a:ext cx="1464185" cy="489200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812080" y="3023762"/>
        <a:ext cx="1170665" cy="293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CE67B-5823-E045-979C-8832ACFCD33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79950-56B9-8C4C-831D-1DC0BAFF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48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Citations:</a:t>
            </a:r>
          </a:p>
          <a:p>
            <a:r>
              <a:rPr lang="en-US" dirty="0"/>
              <a:t>Programs such as </a:t>
            </a:r>
            <a:r>
              <a:rPr lang="en-US" dirty="0" err="1"/>
              <a:t>onenote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Reports of ppl struggling with those apps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61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1200" b="0" dirty="0">
                <a:solidFill>
                  <a:srgbClr val="0B1F33"/>
                </a:solidFill>
                <a:latin typeface="+mn-lt"/>
                <a:ea typeface="IBM Plex Sans"/>
                <a:cs typeface="IBM Plex Sans"/>
              </a:rPr>
              <a:t>•  Student notes are often chaotic and rarely reviewed</a:t>
            </a:r>
          </a:p>
          <a:p>
            <a:pPr>
              <a:spcAft>
                <a:spcPts val="1800"/>
              </a:spcAft>
            </a:pPr>
            <a:r>
              <a:rPr lang="en-US" sz="1200" b="0" dirty="0">
                <a:solidFill>
                  <a:srgbClr val="0B1F33"/>
                </a:solidFill>
                <a:latin typeface="+mn-lt"/>
                <a:ea typeface="IBM Plex Sans"/>
                <a:cs typeface="IBM Plex Sans"/>
              </a:rPr>
              <a:t>•  </a:t>
            </a:r>
            <a:r>
              <a:rPr lang="en-US" sz="1200" dirty="0">
                <a:solidFill>
                  <a:srgbClr val="0B1F33"/>
                </a:solidFill>
                <a:latin typeface="+mn-lt"/>
                <a:ea typeface="IBM Plex Sans"/>
                <a:cs typeface="IBM Plex Sans"/>
              </a:rPr>
              <a:t>Notetaking without</a:t>
            </a:r>
            <a:r>
              <a:rPr lang="en-US" sz="1200" b="0" dirty="0">
                <a:solidFill>
                  <a:srgbClr val="0B1F33"/>
                </a:solidFill>
                <a:latin typeface="+mn-lt"/>
                <a:ea typeface="IBM Plex Sans"/>
                <a:cs typeface="IBM Plex Sans"/>
              </a:rPr>
              <a:t> tools requires </a:t>
            </a:r>
            <a:r>
              <a:rPr lang="en-US" sz="1200" dirty="0">
                <a:solidFill>
                  <a:srgbClr val="0B1F33"/>
                </a:solidFill>
                <a:latin typeface="+mn-lt"/>
                <a:ea typeface="IBM Plex Sans"/>
                <a:cs typeface="IBM Plex Sans"/>
              </a:rPr>
              <a:t>manual, physical organization</a:t>
            </a:r>
          </a:p>
          <a:p>
            <a:pPr>
              <a:spcAft>
                <a:spcPts val="1800"/>
              </a:spcAft>
            </a:pPr>
            <a:r>
              <a:rPr lang="en-US" sz="1200" dirty="0">
                <a:solidFill>
                  <a:srgbClr val="0B1F33"/>
                </a:solidFill>
                <a:ea typeface="IBM Plex Sans"/>
                <a:cs typeface="IBM Plex Sans"/>
              </a:rPr>
              <a:t>• </a:t>
            </a:r>
            <a:r>
              <a:rPr lang="en-US" sz="1200" b="0" dirty="0">
                <a:solidFill>
                  <a:srgbClr val="0B1F33"/>
                </a:solidFill>
                <a:latin typeface="+mn-lt"/>
                <a:ea typeface="IBM Plex Sans"/>
                <a:cs typeface="IBM Plex Sans"/>
              </a:rPr>
              <a:t>Existing tools still require manual organization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no tools world in addition to existing tools</a:t>
            </a:r>
          </a:p>
          <a:p>
            <a:r>
              <a:rPr lang="en-US" dirty="0"/>
              <a:t>Highlight existing world more, frame as half-efficient studying</a:t>
            </a:r>
          </a:p>
          <a:p>
            <a:endParaRPr lang="en-US" dirty="0"/>
          </a:p>
          <a:p>
            <a:r>
              <a:rPr lang="en-US" dirty="0"/>
              <a:t>Split problem and </a:t>
            </a:r>
            <a:r>
              <a:rPr lang="en-US" dirty="0" err="1"/>
              <a:t>solutution</a:t>
            </a:r>
            <a:r>
              <a:rPr lang="en-US" dirty="0"/>
              <a:t> into diff slides, add graphics</a:t>
            </a:r>
          </a:p>
          <a:p>
            <a:endParaRPr lang="en-US" dirty="0"/>
          </a:p>
          <a:p>
            <a:r>
              <a:rPr lang="en-US" dirty="0"/>
              <a:t>Highlight problem more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42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25A3E-E918-6904-3B9C-2F15ADBD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01B81-8994-9018-BECB-B88A2D018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88072-9D3F-B313-B8DA-090AC5718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no tools world in addition to existing tools</a:t>
            </a:r>
          </a:p>
          <a:p>
            <a:r>
              <a:rPr lang="en-US" dirty="0"/>
              <a:t>Highlight existing world more, frame as half-efficient studying</a:t>
            </a:r>
          </a:p>
          <a:p>
            <a:endParaRPr lang="en-US" dirty="0"/>
          </a:p>
          <a:p>
            <a:r>
              <a:rPr lang="en-US" dirty="0"/>
              <a:t>Split problem and </a:t>
            </a:r>
            <a:r>
              <a:rPr lang="en-US" dirty="0" err="1"/>
              <a:t>solutution</a:t>
            </a:r>
            <a:r>
              <a:rPr lang="en-US" dirty="0"/>
              <a:t> into diff slides, add graphics</a:t>
            </a:r>
          </a:p>
          <a:p>
            <a:endParaRPr lang="en-US" dirty="0"/>
          </a:p>
          <a:p>
            <a:r>
              <a:rPr lang="en-US" dirty="0"/>
              <a:t>Highlight problem more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BB9F9-1422-29EF-5A19-905F23F22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04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Add: “are we able to create a software solution to solve this?” if so, it </a:t>
            </a:r>
            <a:r>
              <a:rPr lang="en-US" dirty="0" err="1"/>
              <a:t>shd</a:t>
            </a:r>
            <a:r>
              <a:rPr lang="en-US" dirty="0"/>
              <a:t> be able to </a:t>
            </a:r>
            <a:r>
              <a:rPr lang="en-US" dirty="0" err="1"/>
              <a:t>ansewr</a:t>
            </a:r>
            <a:r>
              <a:rPr lang="en-US" dirty="0"/>
              <a:t> those two </a:t>
            </a:r>
            <a:r>
              <a:rPr lang="en-US" dirty="0" err="1"/>
              <a:t>qeustions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64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58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more higher-level solution before this slide</a:t>
            </a:r>
          </a:p>
          <a:p>
            <a:r>
              <a:rPr lang="en-US" dirty="0"/>
              <a:t>Sentence from before, but flip it to what we’re doing</a:t>
            </a:r>
          </a:p>
          <a:p>
            <a:r>
              <a:rPr lang="en-US" dirty="0"/>
              <a:t>Highlight automatic 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97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already have over 30 evaluations of user data</a:t>
            </a:r>
          </a:p>
          <a:p>
            <a:r>
              <a:rPr lang="en-US" dirty="0"/>
              <a:t>Another threat is still </a:t>
            </a:r>
          </a:p>
          <a:p>
            <a:endParaRPr lang="en-US" dirty="0"/>
          </a:p>
          <a:p>
            <a:r>
              <a:rPr lang="en-US" dirty="0"/>
              <a:t>Say that the biggest problem is accuracy, connect classification accuracy to original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91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2067-E432-76FB-B075-B8E272977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1B0D5-1D54-7558-C552-35A3463C5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9F9AD-06DD-A417-AA3A-4AADEA6DF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F6D4D-8421-1BF1-7F8E-22FE4EAB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72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reiterate problem, solution, and what the eval showed</a:t>
            </a:r>
          </a:p>
          <a:p>
            <a:endParaRPr lang="en-US" dirty="0"/>
          </a:p>
          <a:p>
            <a:r>
              <a:rPr lang="en-US" dirty="0"/>
              <a:t>Better visuals, more attention-grabbing</a:t>
            </a:r>
          </a:p>
          <a:p>
            <a:endParaRPr lang="en-US" dirty="0"/>
          </a:p>
          <a:p>
            <a:r>
              <a:rPr lang="en-US" dirty="0"/>
              <a:t>Add contact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06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9A399-BC6E-D53B-38AF-3B434EE9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90AC8-E015-517D-511A-DDD9A9426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D1A45-86A6-FF1C-8CB3-509015723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reiterate problem, solution, and what the eval showed</a:t>
            </a:r>
          </a:p>
          <a:p>
            <a:endParaRPr lang="en-US" dirty="0"/>
          </a:p>
          <a:p>
            <a:r>
              <a:rPr lang="en-US" dirty="0"/>
              <a:t>Better visuals, more attention-grabbing</a:t>
            </a:r>
          </a:p>
          <a:p>
            <a:endParaRPr lang="en-US" dirty="0"/>
          </a:p>
          <a:p>
            <a:r>
              <a:rPr lang="en-US" dirty="0"/>
              <a:t>Add contact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E3566-E8E3-5B95-4B3B-CEF58AB8E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2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l-2010@outlook.com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notelms.com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lms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yl-2010@outlook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://yanylevi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7" y="987532"/>
            <a:ext cx="103628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NoteLMs</a:t>
            </a:r>
            <a:r>
              <a:rPr lang="en-US" sz="40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: The three-model organization framework for student notes</a:t>
            </a:r>
            <a:endParaRPr sz="4000" b="1" dirty="0">
              <a:solidFill>
                <a:srgbClr val="1A6B8A"/>
              </a:solidFill>
              <a:latin typeface="Fraunces"/>
              <a:ea typeface="Fraunces"/>
              <a:cs typeface="Fraunce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397" y="2590309"/>
            <a:ext cx="10362895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dirty="0">
                <a:solidFill>
                  <a:srgbClr val="5A7186"/>
                </a:solidFill>
                <a:latin typeface="IBM Plex Sans"/>
                <a:ea typeface="IBM Plex Sans"/>
                <a:cs typeface="IBM Plex Sans"/>
              </a:rPr>
              <a:t>Yan Levin</a:t>
            </a:r>
            <a:endParaRPr lang="en-US" sz="2200" b="0" dirty="0">
              <a:solidFill>
                <a:srgbClr val="5A7186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spcAft>
                <a:spcPts val="600"/>
              </a:spcAft>
            </a:pPr>
            <a:r>
              <a:rPr lang="en-US" sz="2200" dirty="0">
                <a:solidFill>
                  <a:srgbClr val="5A7186"/>
                </a:solidFill>
                <a:latin typeface="IBM Plex Sans"/>
                <a:ea typeface="IBM Plex Sans"/>
                <a:cs typeface="IBM Plex Sans"/>
                <a:hlinkClick r:id="rId3"/>
              </a:rPr>
              <a:t>yl-2010@outlook.com</a:t>
            </a:r>
            <a:endParaRPr lang="en-US" sz="2200" b="0" dirty="0">
              <a:solidFill>
                <a:srgbClr val="5A7186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spcAft>
                <a:spcPts val="600"/>
              </a:spcAft>
            </a:pPr>
            <a:r>
              <a:rPr lang="en-US" sz="2200" dirty="0">
                <a:solidFill>
                  <a:srgbClr val="5A7186"/>
                </a:solidFill>
                <a:latin typeface="IBM Plex Sans"/>
                <a:ea typeface="IBM Plex Sans"/>
                <a:cs typeface="IBM Plex Sans"/>
                <a:hlinkClick r:id="rId4"/>
              </a:rPr>
              <a:t>notelms.com</a:t>
            </a:r>
            <a:endParaRPr sz="2200" b="0" dirty="0">
              <a:solidFill>
                <a:srgbClr val="5A7186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spcAft>
                <a:spcPts val="600"/>
              </a:spcAft>
            </a:pPr>
            <a:r>
              <a:rPr sz="2200" b="0" dirty="0">
                <a:solidFill>
                  <a:srgbClr val="5A7186"/>
                </a:solidFill>
                <a:latin typeface="IBM Plex Sans"/>
                <a:ea typeface="IBM Plex Sans"/>
                <a:cs typeface="IBM Plex Sans"/>
              </a:rPr>
              <a:t>July 2026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F17D55-428F-4E08-E9D0-F29B4A4280F8}"/>
              </a:ext>
            </a:extLst>
          </p:cNvPr>
          <p:cNvGrpSpPr/>
          <p:nvPr/>
        </p:nvGrpSpPr>
        <p:grpSpPr>
          <a:xfrm>
            <a:off x="9300073" y="2661960"/>
            <a:ext cx="1977219" cy="1977219"/>
            <a:chOff x="2667000" y="0"/>
            <a:chExt cx="6858000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53E86DD-3FCB-FE78-D640-5BB44C24E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DC675EE-66AA-39FD-A04F-5B99BE863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9296" y="2372296"/>
              <a:ext cx="2113407" cy="2113407"/>
            </a:xfrm>
            <a:prstGeom prst="round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E9C5B33-D482-C0F4-BA3F-0B645B9B24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644" y="4339342"/>
            <a:ext cx="7772400" cy="2285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8069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Problem</a:t>
            </a:r>
            <a:endParaRPr sz="3600" b="1" dirty="0">
              <a:solidFill>
                <a:srgbClr val="1A6B8A"/>
              </a:solidFill>
              <a:latin typeface="Fraunces"/>
              <a:ea typeface="Fraunces"/>
              <a:cs typeface="Fraunces"/>
            </a:endParaRP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2F132C2-00A1-28E1-1F62-BDE7ECDCE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C96FA6B-AFC3-8312-4BFF-DC72A634F9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2087717"/>
              </p:ext>
            </p:extLst>
          </p:nvPr>
        </p:nvGraphicFramePr>
        <p:xfrm>
          <a:off x="822960" y="558517"/>
          <a:ext cx="11052208" cy="540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09A31-6D4C-82F5-72CA-0C77DD2E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0F997C-878A-E2C7-2066-CDA3C8D6202F}"/>
              </a:ext>
            </a:extLst>
          </p:cNvPr>
          <p:cNvSpPr txBox="1"/>
          <p:nvPr/>
        </p:nvSpPr>
        <p:spPr>
          <a:xfrm>
            <a:off x="822960" y="548640"/>
            <a:ext cx="17812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Solution</a:t>
            </a:r>
            <a:endParaRPr sz="3600" b="1" dirty="0">
              <a:solidFill>
                <a:srgbClr val="1A6B8A"/>
              </a:solidFill>
              <a:latin typeface="Fraunces"/>
              <a:ea typeface="Fraunces"/>
              <a:cs typeface="Fraunce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6E07C-0116-15FE-A2CE-00C33FFA4D2E}"/>
              </a:ext>
            </a:extLst>
          </p:cNvPr>
          <p:cNvSpPr txBox="1"/>
          <p:nvPr/>
        </p:nvSpPr>
        <p:spPr>
          <a:xfrm>
            <a:off x="933650" y="2036690"/>
            <a:ext cx="583291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•  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NoteLMs auto-classifies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into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folders,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HTML-formats notes</a:t>
            </a: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, and reads                	notes aloud for review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 This saves students’ time, making them more likely to review their 	notes in the 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future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Three models compete; accuracy scored in real time</a:t>
            </a: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AD76D318-AD45-ADD8-8DD6-E8333E94C790}"/>
              </a:ext>
            </a:extLst>
          </p:cNvPr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9A578FB-0C32-629B-929E-35D444F40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1A3276-6D2E-84C9-E5A7-E187C12E0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721856"/>
            <a:ext cx="5089495" cy="413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22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Introduction</a:t>
            </a:r>
            <a:endParaRPr sz="3600" b="1" dirty="0">
              <a:solidFill>
                <a:srgbClr val="1A6B8A"/>
              </a:solidFill>
              <a:latin typeface="Fraunces"/>
              <a:ea typeface="Fraunces"/>
              <a:cs typeface="Fraunce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1713525"/>
            <a:ext cx="1005840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Website that auto-sorts and formats student notes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F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ully-functioning, live website, free to use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•  If a software solution is capable of solving this: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		Are LMs capable of categorizing notes into subjects?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		If so, which LM is best?</a:t>
            </a:r>
            <a:endParaRPr lang="en-US"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We have found that fine-tuned BERT is the most accurate LM at subject classification.</a:t>
            </a:r>
            <a:endParaRPr lang="en-US"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1FF302-C61C-F854-FFCC-8B3F34BA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34340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Related </a:t>
            </a:r>
            <a:r>
              <a:rPr lang="en-US" sz="36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Products</a:t>
            </a:r>
            <a:endParaRPr sz="3600" b="1" dirty="0">
              <a:solidFill>
                <a:srgbClr val="1A6B8A"/>
              </a:solidFill>
              <a:latin typeface="Fraunces"/>
              <a:ea typeface="Fraunces"/>
              <a:cs typeface="Fraunce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800" y="2651760"/>
            <a:ext cx="1005840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Microsoft OneNote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Apple Notes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Physical notebooks</a:t>
            </a:r>
          </a:p>
          <a:p>
            <a:pPr>
              <a:spcAft>
                <a:spcPts val="1800"/>
              </a:spcAft>
            </a:pP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All require manual organizing and formatting</a:t>
            </a: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D49924-4294-7154-59FC-20068B6A4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pic>
        <p:nvPicPr>
          <p:cNvPr id="7" name="Picture 6" descr="File:Microsoft OneNote Icon (2025 - present).svg - Wikimedia Commons">
            <a:extLst>
              <a:ext uri="{FF2B5EF4-FFF2-40B4-BE49-F238E27FC236}">
                <a16:creationId xmlns:a16="http://schemas.microsoft.com/office/drawing/2014/main" id="{3735EC09-5C7F-6199-3370-2043CFB69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793" y="1384879"/>
            <a:ext cx="2464449" cy="2533762"/>
          </a:xfrm>
          <a:prstGeom prst="rect">
            <a:avLst/>
          </a:prstGeom>
        </p:spPr>
      </p:pic>
      <p:pic>
        <p:nvPicPr>
          <p:cNvPr id="8" name="Picture 7" descr="File:Apple Notes icon.svg - Wikimedia Commons">
            <a:extLst>
              <a:ext uri="{FF2B5EF4-FFF2-40B4-BE49-F238E27FC236}">
                <a16:creationId xmlns:a16="http://schemas.microsoft.com/office/drawing/2014/main" id="{99D913B3-7B6D-03D2-C8B1-D9DAD823C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657" y="447888"/>
            <a:ext cx="2533762" cy="2533762"/>
          </a:xfrm>
          <a:prstGeom prst="rect">
            <a:avLst/>
          </a:prstGeom>
        </p:spPr>
      </p:pic>
      <p:pic>
        <p:nvPicPr>
          <p:cNvPr id="9" name="Picture 8" descr="Notebook emoji">
            <a:extLst>
              <a:ext uri="{FF2B5EF4-FFF2-40B4-BE49-F238E27FC236}">
                <a16:creationId xmlns:a16="http://schemas.microsoft.com/office/drawing/2014/main" id="{032E2243-7879-343E-C56A-B4A1A6AC67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657" y="3710044"/>
            <a:ext cx="3024716" cy="3024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Conceptual Solution</a:t>
            </a: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725B7A-C5B5-F1CA-497D-D4F561420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8628A4E-597F-C81C-DE51-23F6384FAFDC}"/>
              </a:ext>
            </a:extLst>
          </p:cNvPr>
          <p:cNvSpPr txBox="1"/>
          <p:nvPr/>
        </p:nvSpPr>
        <p:spPr>
          <a:xfrm>
            <a:off x="705395" y="1626442"/>
            <a:ext cx="11220994" cy="1800493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pPr>
              <a:spcAft>
                <a:spcPts val="1800"/>
              </a:spcAft>
            </a:pPr>
            <a:r>
              <a:rPr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Auto-organizes and formats the user’s notes.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• 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Input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plain-text notes or note images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Output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Classify subject → place in subject folder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Output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Auto HTML-format for readability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Output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N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atural AI readout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0E7E74-6298-4FCE-3F0D-6F420F31BB9C}"/>
              </a:ext>
            </a:extLst>
          </p:cNvPr>
          <p:cNvGrpSpPr/>
          <p:nvPr/>
        </p:nvGrpSpPr>
        <p:grpSpPr>
          <a:xfrm>
            <a:off x="705395" y="3426935"/>
            <a:ext cx="11220994" cy="3304811"/>
            <a:chOff x="705395" y="3426935"/>
            <a:chExt cx="11220994" cy="330481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A0791F0-2F51-437A-F2D4-D0387145E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163929" y="3552237"/>
              <a:ext cx="1762460" cy="1762460"/>
            </a:xfrm>
            <a:prstGeom prst="rect">
              <a:avLst/>
            </a:prstGeom>
          </p:spPr>
        </p:pic>
        <p:pic>
          <p:nvPicPr>
            <p:cNvPr id="7" name="Picture 6" descr="How to quickly navigate to a folder in macOS Big Sur and Monterey | Macworld">
              <a:extLst>
                <a:ext uri="{FF2B5EF4-FFF2-40B4-BE49-F238E27FC236}">
                  <a16:creationId xmlns:a16="http://schemas.microsoft.com/office/drawing/2014/main" id="{26B37C4B-FEA1-434E-1E65-337A9BC59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27337" y="4687472"/>
              <a:ext cx="1895537" cy="1263691"/>
            </a:xfrm>
            <a:prstGeom prst="rect">
              <a:avLst/>
            </a:prstGeom>
          </p:spPr>
        </p:pic>
        <p:pic>
          <p:nvPicPr>
            <p:cNvPr id="52" name="Picture 51" descr="iOS 26.4">
              <a:extLst>
                <a:ext uri="{FF2B5EF4-FFF2-40B4-BE49-F238E27FC236}">
                  <a16:creationId xmlns:a16="http://schemas.microsoft.com/office/drawing/2014/main" id="{639EE3A1-962F-FAE2-6542-FAACD26D8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9514" y="4401766"/>
              <a:ext cx="1166658" cy="1166658"/>
            </a:xfrm>
            <a:prstGeom prst="rect">
              <a:avLst/>
            </a:prstGeom>
          </p:spPr>
        </p:pic>
        <p:pic>
          <p:nvPicPr>
            <p:cNvPr id="48" name="Picture 47" descr="How to quickly navigate to a folder in macOS Big Sur and Monterey | Macworld">
              <a:extLst>
                <a:ext uri="{FF2B5EF4-FFF2-40B4-BE49-F238E27FC236}">
                  <a16:creationId xmlns:a16="http://schemas.microsoft.com/office/drawing/2014/main" id="{7FEA92B5-488C-3F18-90E3-DC4B9D2B4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/>
          </p:blipFill>
          <p:spPr>
            <a:xfrm>
              <a:off x="6027337" y="4683858"/>
              <a:ext cx="1895537" cy="1263691"/>
            </a:xfrm>
            <a:prstGeom prst="rect">
              <a:avLst/>
            </a:prstGeom>
          </p:spPr>
        </p:pic>
        <p:pic>
          <p:nvPicPr>
            <p:cNvPr id="53" name="Picture 52" descr="iOS 26.4">
              <a:extLst>
                <a:ext uri="{FF2B5EF4-FFF2-40B4-BE49-F238E27FC236}">
                  <a16:creationId xmlns:a16="http://schemas.microsoft.com/office/drawing/2014/main" id="{0E12F6D0-1520-D12A-1B60-5894AC99F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80500" y="3619548"/>
              <a:ext cx="1312657" cy="1312657"/>
            </a:xfrm>
            <a:prstGeom prst="rect">
              <a:avLst/>
            </a:prstGeom>
          </p:spPr>
        </p:pic>
        <p:pic>
          <p:nvPicPr>
            <p:cNvPr id="49" name="Picture 48" descr="How to quickly navigate to a folder in macOS Big Sur and Monterey | Macworld">
              <a:extLst>
                <a:ext uri="{FF2B5EF4-FFF2-40B4-BE49-F238E27FC236}">
                  <a16:creationId xmlns:a16="http://schemas.microsoft.com/office/drawing/2014/main" id="{13788800-A927-D827-10DC-810444ECD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6913635" y="3520536"/>
              <a:ext cx="1749987" cy="1166658"/>
            </a:xfrm>
            <a:prstGeom prst="rect">
              <a:avLst/>
            </a:prstGeom>
          </p:spPr>
        </p:pic>
        <p:pic>
          <p:nvPicPr>
            <p:cNvPr id="50" name="Picture 49" descr="How to quickly navigate to a folder in macOS Big Sur and Monterey | Macworld">
              <a:extLst>
                <a:ext uri="{FF2B5EF4-FFF2-40B4-BE49-F238E27FC236}">
                  <a16:creationId xmlns:a16="http://schemas.microsoft.com/office/drawing/2014/main" id="{0D6A420C-CE4E-E1C0-6C2B-690132C4A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/>
          </p:blipFill>
          <p:spPr>
            <a:xfrm>
              <a:off x="6913635" y="3517200"/>
              <a:ext cx="1749987" cy="116665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E8D624-DBBF-644A-161E-95BEC937F3B9}"/>
                </a:ext>
              </a:extLst>
            </p:cNvPr>
            <p:cNvSpPr/>
            <p:nvPr/>
          </p:nvSpPr>
          <p:spPr>
            <a:xfrm>
              <a:off x="705395" y="3426935"/>
              <a:ext cx="1149531" cy="235991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A6AA7B-1A4D-673A-232B-539124C59DE3}"/>
                </a:ext>
              </a:extLst>
            </p:cNvPr>
            <p:cNvSpPr/>
            <p:nvPr/>
          </p:nvSpPr>
          <p:spPr>
            <a:xfrm>
              <a:off x="822960" y="3619548"/>
              <a:ext cx="914400" cy="914400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Image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21AB4E9-3971-5E4D-EBE0-ECBECAB394EE}"/>
                </a:ext>
              </a:extLst>
            </p:cNvPr>
            <p:cNvSpPr/>
            <p:nvPr/>
          </p:nvSpPr>
          <p:spPr>
            <a:xfrm>
              <a:off x="829294" y="4706208"/>
              <a:ext cx="914400" cy="914400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Text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E9FBE5F-C1D3-F75E-D1D1-A21AD2AB1B65}"/>
                </a:ext>
              </a:extLst>
            </p:cNvPr>
            <p:cNvSpPr txBox="1"/>
            <p:nvPr/>
          </p:nvSpPr>
          <p:spPr>
            <a:xfrm>
              <a:off x="3580500" y="5177070"/>
              <a:ext cx="1312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Formatted notes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B27E5D8-6A3C-2DAC-CDC0-3E18BFDC7FA7}"/>
                </a:ext>
              </a:extLst>
            </p:cNvPr>
            <p:cNvCxnSpPr>
              <a:cxnSpLocks/>
            </p:cNvCxnSpPr>
            <p:nvPr/>
          </p:nvCxnSpPr>
          <p:spPr>
            <a:xfrm>
              <a:off x="2212761" y="4524343"/>
              <a:ext cx="937616" cy="0"/>
            </a:xfrm>
            <a:prstGeom prst="line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AEFA33D-1D0E-F4FA-81E0-87A39EC15AD1}"/>
                </a:ext>
              </a:extLst>
            </p:cNvPr>
            <p:cNvCxnSpPr>
              <a:cxnSpLocks/>
            </p:cNvCxnSpPr>
            <p:nvPr/>
          </p:nvCxnSpPr>
          <p:spPr>
            <a:xfrm>
              <a:off x="5158384" y="4524343"/>
              <a:ext cx="937616" cy="0"/>
            </a:xfrm>
            <a:prstGeom prst="line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E3044E1-400C-D19C-8A78-56F8721ADAD8}"/>
                </a:ext>
              </a:extLst>
            </p:cNvPr>
            <p:cNvCxnSpPr>
              <a:cxnSpLocks/>
            </p:cNvCxnSpPr>
            <p:nvPr/>
          </p:nvCxnSpPr>
          <p:spPr>
            <a:xfrm>
              <a:off x="8960767" y="4541816"/>
              <a:ext cx="937616" cy="0"/>
            </a:xfrm>
            <a:prstGeom prst="line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94195F-E447-BCB8-3FCE-E2377039DF86}"/>
                </a:ext>
              </a:extLst>
            </p:cNvPr>
            <p:cNvSpPr txBox="1"/>
            <p:nvPr/>
          </p:nvSpPr>
          <p:spPr>
            <a:xfrm>
              <a:off x="6315892" y="6085415"/>
              <a:ext cx="1312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Sorted notes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6F2465-2B02-E295-BCE1-38A0B782A463}"/>
                </a:ext>
              </a:extLst>
            </p:cNvPr>
            <p:cNvSpPr txBox="1"/>
            <p:nvPr/>
          </p:nvSpPr>
          <p:spPr>
            <a:xfrm>
              <a:off x="10388830" y="5594550"/>
              <a:ext cx="1312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Natural speech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18BDC-BDD6-DAFF-9D92-55D4A7FE5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6EEF25-DCA6-9E87-EF7C-632A059EAACC}"/>
              </a:ext>
            </a:extLst>
          </p:cNvPr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1024B-FE4B-55BE-9A43-DE24159DD377}"/>
              </a:ext>
            </a:extLst>
          </p:cNvPr>
          <p:cNvSpPr txBox="1"/>
          <p:nvPr/>
        </p:nvSpPr>
        <p:spPr>
          <a:xfrm>
            <a:off x="822960" y="1619071"/>
            <a:ext cx="77724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Vercel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-hosted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w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eb app + </a:t>
            </a:r>
            <a:r>
              <a:rPr lang="en-US" sz="2400" b="1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Cloudfare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tunnel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3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language models for classification</a:t>
            </a:r>
            <a:endParaRPr lang="en-US"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Zero-shot BERT, Fine-tuned BERT, GPT-OSS:20b</a:t>
            </a:r>
          </a:p>
          <a:p>
            <a:pPr>
              <a:spcAft>
                <a:spcPts val="1800"/>
              </a:spcAft>
            </a:pP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Inference on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Mac Studio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, M3 Ultra w/ 96 </a:t>
            </a:r>
            <a:r>
              <a:rPr lang="en-US" sz="2400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gb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unified 	memory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•  Image -&gt; text is done through </a:t>
            </a:r>
            <a:r>
              <a:rPr lang="en-US" sz="2400" b="1" dirty="0">
                <a:solidFill>
                  <a:srgbClr val="0B1F33"/>
                </a:solidFill>
                <a:ea typeface="IBM Plex Sans"/>
                <a:cs typeface="IBM Plex Sans"/>
              </a:rPr>
              <a:t>OpenAI API </a:t>
            </a: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key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12028E6B-A855-C46D-E863-4D357AE08331}"/>
              </a:ext>
            </a:extLst>
          </p:cNvPr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9417A-FFA1-80F5-30B3-5A2533EBB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0A3503C-E4AA-4545-3AD7-5733BF0D2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021" y="322810"/>
            <a:ext cx="3068170" cy="23185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187127E-821E-4A22-EE39-B1058B628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913" y="2573619"/>
            <a:ext cx="3068170" cy="23185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B1C6831-BFC3-93EB-05A3-8995E1977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4824427"/>
            <a:ext cx="7772400" cy="18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41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07631EE-2F8D-6256-B400-5BB5405ED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02" t="10649"/>
          <a:stretch>
            <a:fillRect/>
          </a:stretch>
        </p:blipFill>
        <p:spPr>
          <a:xfrm>
            <a:off x="6174600" y="2016413"/>
            <a:ext cx="5734050" cy="367664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1644" y="1517276"/>
            <a:ext cx="7241689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Goal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measure classification accuracy</a:t>
            </a:r>
            <a:endParaRPr lang="en-US"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2,000 original eval runs</a:t>
            </a:r>
          </a:p>
          <a:p>
            <a:pPr>
              <a:spcAft>
                <a:spcPts val="1800"/>
              </a:spcAft>
            </a:pP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Models 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evaluated with every use of NoteLMs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91.7% accuracy, proves that machine can 	organize well for user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Threat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limited 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non-diverse data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Solution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introduce diversity by</a:t>
            </a:r>
          </a:p>
          <a:p>
            <a:pPr>
              <a:spcAft>
                <a:spcPts val="1800"/>
              </a:spcAft>
            </a:pP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drawing in real-world user data</a:t>
            </a: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30D91F-239E-0C9A-B212-2A472CA0F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5A914-4907-E09A-359C-F75F9CDD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517893-993E-0EAA-6A16-CE5682F32960}"/>
              </a:ext>
            </a:extLst>
          </p:cNvPr>
          <p:cNvSpPr/>
          <p:nvPr/>
        </p:nvSpPr>
        <p:spPr>
          <a:xfrm>
            <a:off x="697454" y="2789155"/>
            <a:ext cx="5703346" cy="13805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57E84E-42CE-FD9D-3549-B43CB75319DA}"/>
              </a:ext>
            </a:extLst>
          </p:cNvPr>
          <p:cNvSpPr txBox="1"/>
          <p:nvPr/>
        </p:nvSpPr>
        <p:spPr>
          <a:xfrm>
            <a:off x="822960" y="548640"/>
            <a:ext cx="21555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Site Demo</a:t>
            </a:r>
            <a:endParaRPr sz="3600" b="1" dirty="0">
              <a:solidFill>
                <a:srgbClr val="1A6B8A"/>
              </a:solidFill>
              <a:latin typeface="Fraunces"/>
              <a:ea typeface="Fraunces"/>
              <a:cs typeface="Fraunce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AD5CF-13AB-3E0D-F679-451748A2C1EE}"/>
              </a:ext>
            </a:extLst>
          </p:cNvPr>
          <p:cNvSpPr txBox="1"/>
          <p:nvPr/>
        </p:nvSpPr>
        <p:spPr>
          <a:xfrm>
            <a:off x="1066800" y="3169299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sz="4000" dirty="0">
                <a:solidFill>
                  <a:schemeClr val="bg1"/>
                </a:solidFill>
                <a:ea typeface="IBM Plex Sans"/>
                <a:cs typeface="IBM Plex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https://notelms.com/</a:t>
            </a:r>
            <a:r>
              <a:rPr lang="en-US" sz="4000" dirty="0">
                <a:solidFill>
                  <a:schemeClr val="bg1"/>
                </a:solidFill>
                <a:ea typeface="IBM Plex Sans"/>
                <a:cs typeface="IBM Plex Sans"/>
              </a:rPr>
              <a:t> </a:t>
            </a:r>
            <a:endParaRPr sz="4000" b="0" dirty="0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60D9E5A9-ABC7-1DFC-195C-B9B6968D50AD}"/>
              </a:ext>
            </a:extLst>
          </p:cNvPr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622BFA-C7BC-7D83-3549-F738382F5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F5AFEE2-7B02-286E-0AEE-ADA3098CC47F}"/>
              </a:ext>
            </a:extLst>
          </p:cNvPr>
          <p:cNvGrpSpPr/>
          <p:nvPr/>
        </p:nvGrpSpPr>
        <p:grpSpPr>
          <a:xfrm>
            <a:off x="7342909" y="1714500"/>
            <a:ext cx="3429000" cy="3429000"/>
            <a:chOff x="2667000" y="0"/>
            <a:chExt cx="6858000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12381D1-3DB9-B026-AD4C-AA4FC8866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D1FDC09-FF21-6AF4-ABD4-E12994BBE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9296" y="2372296"/>
              <a:ext cx="2113407" cy="2113407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072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51560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FF0000"/>
                </a:solidFill>
                <a:latin typeface="IBM Plex Sans"/>
                <a:ea typeface="IBM Plex Sans"/>
                <a:cs typeface="IBM Plex Sans"/>
              </a:rPr>
              <a:t>Problem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students don’t review their notes because of no organization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0B050"/>
                </a:solidFill>
                <a:latin typeface="IBM Plex Sans"/>
                <a:ea typeface="IBM Plex Sans"/>
                <a:cs typeface="IBM Plex Sans"/>
              </a:rPr>
              <a:t>Solution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we fully sort and format thei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r notes for them</a:t>
            </a:r>
          </a:p>
          <a:p>
            <a:pPr>
              <a:spcAft>
                <a:spcPts val="1800"/>
              </a:spcAft>
            </a:pP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	Built-in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chatbot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answers questions about notes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	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Voice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reads aloud notes when it’s time for test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Research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compare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s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and score three models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live, with every new input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Future work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local image to text, comparing between different LLMs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0F6F62-4039-45CF-F20C-F56992B96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2635D-81E6-F618-BC81-6DDD13997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FF5F18-26E0-8FE1-1BDE-A08D2DF53AB8}"/>
              </a:ext>
            </a:extLst>
          </p:cNvPr>
          <p:cNvSpPr txBox="1"/>
          <p:nvPr/>
        </p:nvSpPr>
        <p:spPr>
          <a:xfrm>
            <a:off x="822960" y="548640"/>
            <a:ext cx="165622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Contact</a:t>
            </a:r>
            <a:endParaRPr sz="3600" b="1" dirty="0">
              <a:solidFill>
                <a:srgbClr val="1A6B8A"/>
              </a:solidFill>
              <a:latin typeface="Fraunces"/>
              <a:ea typeface="Fraunces"/>
              <a:cs typeface="Fraunce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C9005-A80B-3E9A-C7C5-0FB7A9E53B14}"/>
              </a:ext>
            </a:extLst>
          </p:cNvPr>
          <p:cNvSpPr txBox="1"/>
          <p:nvPr/>
        </p:nvSpPr>
        <p:spPr>
          <a:xfrm>
            <a:off x="1005840" y="1737360"/>
            <a:ext cx="10515600" cy="16619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Yan Levin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  <a:hlinkClick r:id="rId3"/>
              </a:rPr>
              <a:t>yl-2010@outlook.com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  <a:hlinkClick r:id="rId4"/>
              </a:rPr>
              <a:t>• </a:t>
            </a:r>
            <a:r>
              <a:rPr lang="en-US" sz="2400" dirty="0" err="1">
                <a:solidFill>
                  <a:srgbClr val="0B1F33"/>
                </a:solidFill>
                <a:ea typeface="IBM Plex Sans"/>
                <a:cs typeface="IBM Plex Sans"/>
                <a:hlinkClick r:id="rId4"/>
              </a:rPr>
              <a:t>yanylevin.com</a:t>
            </a:r>
            <a:endParaRPr sz="240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46F4F419-02C7-FC1A-E4F1-48530C104621}"/>
              </a:ext>
            </a:extLst>
          </p:cNvPr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70A3A6-34D8-2F5D-E76A-F7A99B3CE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888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NoteLMs Light">
  <a:themeElements>
    <a:clrScheme name="NoteLMsLight">
      <a:dk1>
        <a:sysClr val="windowText" lastClr="0B1F33"/>
      </a:dk1>
      <a:lt1>
        <a:sysClr val="window" lastClr="F4F7FA"/>
      </a:lt1>
      <a:dk2>
        <a:srgbClr val="5A7186"/>
      </a:dk2>
      <a:lt2>
        <a:srgbClr val="DCE8F1"/>
      </a:lt2>
      <a:accent1>
        <a:srgbClr val="1A6B8A"/>
      </a:accent1>
      <a:accent2>
        <a:srgbClr val="0E4A63"/>
      </a:accent2>
      <a:accent3>
        <a:srgbClr val="D0DBE6"/>
      </a:accent3>
      <a:accent4>
        <a:srgbClr val="5A7186"/>
      </a:accent4>
      <a:accent5>
        <a:srgbClr val="3D8FAD"/>
      </a:accent5>
      <a:accent6>
        <a:srgbClr val="DCE8F1"/>
      </a:accent6>
      <a:hlink>
        <a:srgbClr val="1A6B8A"/>
      </a:hlink>
      <a:folHlink>
        <a:srgbClr val="0E4A63"/>
      </a:folHlink>
    </a:clrScheme>
    <a:fontScheme name="NoteLMs">
      <a:majorFont>
        <a:latin typeface="Fraunce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41C1A"/>
      </a:dk2>
      <a:lt2>
        <a:srgbClr val="EEF2F0"/>
      </a:lt2>
      <a:accent1>
        <a:srgbClr val="2F5F5A"/>
      </a:accent1>
      <a:accent2>
        <a:srgbClr val="7A24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Fraunce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640</Words>
  <Application>Microsoft Macintosh PowerPoint</Application>
  <PresentationFormat>Widescreen</PresentationFormat>
  <Paragraphs>114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Fraunces</vt:lpstr>
      <vt:lpstr>IBM Plex Sans</vt:lpstr>
      <vt:lpstr>NoteLMs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 Levin</cp:lastModifiedBy>
  <cp:revision>15</cp:revision>
  <dcterms:created xsi:type="dcterms:W3CDTF">2013-01-27T09:14:16Z</dcterms:created>
  <dcterms:modified xsi:type="dcterms:W3CDTF">2026-07-23T07:33:09Z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2145c00-f4d6-4f27-874c-dea6154370e3_Enabled">
    <vt:lpwstr>true</vt:lpwstr>
  </property>
  <property fmtid="{D5CDD505-2E9C-101B-9397-08002B2CF9AE}" pid="3" name="MSIP_Label_f2145c00-f4d6-4f27-874c-dea6154370e3_SetDate">
    <vt:lpwstr>2026-07-22T13:32:51Z</vt:lpwstr>
  </property>
  <property fmtid="{D5CDD505-2E9C-101B-9397-08002B2CF9AE}" pid="4" name="MSIP_Label_f2145c00-f4d6-4f27-874c-dea6154370e3_Method">
    <vt:lpwstr>Standard</vt:lpwstr>
  </property>
  <property fmtid="{D5CDD505-2E9C-101B-9397-08002B2CF9AE}" pid="5" name="MSIP_Label_f2145c00-f4d6-4f27-874c-dea6154370e3_Name">
    <vt:lpwstr>defa4170-0d19-0005-0004-bc88714345d2</vt:lpwstr>
  </property>
  <property fmtid="{D5CDD505-2E9C-101B-9397-08002B2CF9AE}" pid="6" name="MSIP_Label_f2145c00-f4d6-4f27-874c-dea6154370e3_SiteId">
    <vt:lpwstr>b2681e8b-dd20-46cf-b163-371a2d7c6014</vt:lpwstr>
  </property>
  <property fmtid="{D5CDD505-2E9C-101B-9397-08002B2CF9AE}" pid="7" name="MSIP_Label_f2145c00-f4d6-4f27-874c-dea6154370e3_ActionId">
    <vt:lpwstr>638e7344-8a5d-411f-a1f3-0a888f4bd13f</vt:lpwstr>
  </property>
  <property fmtid="{D5CDD505-2E9C-101B-9397-08002B2CF9AE}" pid="8" name="MSIP_Label_f2145c00-f4d6-4f27-874c-dea6154370e3_ContentBits">
    <vt:lpwstr>0</vt:lpwstr>
  </property>
  <property fmtid="{D5CDD505-2E9C-101B-9397-08002B2CF9AE}" pid="9" name="MSIP_Label_f2145c00-f4d6-4f27-874c-dea6154370e3_Tag">
    <vt:lpwstr>50, 3, 0, 1</vt:lpwstr>
  </property>
</Properties>
</file>